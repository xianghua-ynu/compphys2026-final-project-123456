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6"/>
  </p:notesMasterIdLst>
  <p:sldIdLst>
    <p:sldId id="260" r:id="rId4"/>
    <p:sldId id="263" r:id="rId5"/>
    <p:sldId id="265" r:id="rId6"/>
    <p:sldId id="295" r:id="rId7"/>
    <p:sldId id="298" r:id="rId8"/>
    <p:sldId id="309" r:id="rId9"/>
    <p:sldId id="282" r:id="rId10"/>
    <p:sldId id="310" r:id="rId11"/>
    <p:sldId id="302" r:id="rId12"/>
    <p:sldId id="312" r:id="rId13"/>
    <p:sldId id="304" r:id="rId14"/>
    <p:sldId id="289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2413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971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4749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302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860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5080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609600" y="20828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946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18000" y="15240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4318000" y="20828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22800" y="2641600"/>
            <a:ext cx="2946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026400" y="15240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8026400" y="20828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2641600"/>
            <a:ext cx="2946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609600" y="39624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609600" y="45212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14400" y="5080000"/>
            <a:ext cx="2946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4318000" y="39624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6"/>
            </p:custDataLst>
          </p:nvPr>
        </p:nvSpPr>
        <p:spPr>
          <a:xfrm>
            <a:off x="4318000" y="45212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4622800" y="5080000"/>
            <a:ext cx="2946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-10009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3368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609600" y="2895600"/>
            <a:ext cx="2514600" cy="2540000"/>
          </a:xfrm>
          <a:custGeom>
            <a:avLst/>
            <a:gdLst>
              <a:gd name="connisteX0" fmla="*/ 0 w 2514600"/>
              <a:gd name="connsiteY0" fmla="*/ 203200 h 2540000"/>
              <a:gd name="connisteX1" fmla="*/ 203200 w 2514600"/>
              <a:gd name="connsiteY1" fmla="*/ 0 h 2540000"/>
              <a:gd name="connisteX2" fmla="*/ 2311400 w 2514600"/>
              <a:gd name="connsiteY2" fmla="*/ 0 h 2540000"/>
              <a:gd name="connisteX3" fmla="*/ 2514600 w 2514600"/>
              <a:gd name="connsiteY3" fmla="*/ 203200 h 2540000"/>
              <a:gd name="connisteX4" fmla="*/ 2514600 w 2514600"/>
              <a:gd name="connsiteY4" fmla="*/ 2336800 h 2540000"/>
              <a:gd name="connisteX5" fmla="*/ 2311400 w 2514600"/>
              <a:gd name="connsiteY5" fmla="*/ 2540000 h 2540000"/>
              <a:gd name="connisteX6" fmla="*/ 203200 w 2514600"/>
              <a:gd name="connsiteY6" fmla="*/ 2540000 h 2540000"/>
              <a:gd name="connisteX7" fmla="*/ 0 w 2514600"/>
              <a:gd name="connsiteY7" fmla="*/ 2336800 h 2540000"/>
              <a:gd name="connisteX8" fmla="*/ 0 w 25146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cubicBezTo>
                  <a:pt x="2514600" y="2449024"/>
                  <a:pt x="2423624" y="2540000"/>
                  <a:pt x="23114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3429000" y="23368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3429000" y="2895600"/>
            <a:ext cx="2514600" cy="2540000"/>
          </a:xfrm>
          <a:custGeom>
            <a:avLst/>
            <a:gdLst>
              <a:gd name="connisteX0" fmla="*/ 0 w 2514600"/>
              <a:gd name="connsiteY0" fmla="*/ 203200 h 2540000"/>
              <a:gd name="connisteX1" fmla="*/ 203200 w 2514600"/>
              <a:gd name="connsiteY1" fmla="*/ 0 h 2540000"/>
              <a:gd name="connisteX2" fmla="*/ 2311400 w 2514600"/>
              <a:gd name="connsiteY2" fmla="*/ 0 h 2540000"/>
              <a:gd name="connisteX3" fmla="*/ 2514600 w 2514600"/>
              <a:gd name="connsiteY3" fmla="*/ 203200 h 2540000"/>
              <a:gd name="connisteX4" fmla="*/ 2514600 w 2514600"/>
              <a:gd name="connsiteY4" fmla="*/ 2336800 h 2540000"/>
              <a:gd name="connisteX5" fmla="*/ 2311400 w 2514600"/>
              <a:gd name="connsiteY5" fmla="*/ 2540000 h 2540000"/>
              <a:gd name="connisteX6" fmla="*/ 203200 w 2514600"/>
              <a:gd name="connsiteY6" fmla="*/ 2540000 h 2540000"/>
              <a:gd name="connisteX7" fmla="*/ 0 w 2514600"/>
              <a:gd name="connsiteY7" fmla="*/ 2336800 h 2540000"/>
              <a:gd name="connisteX8" fmla="*/ 0 w 25146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cubicBezTo>
                  <a:pt x="2514600" y="2449024"/>
                  <a:pt x="2423624" y="2540000"/>
                  <a:pt x="23114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733800" y="3860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248400" y="23368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2895600"/>
            <a:ext cx="2514600" cy="2540000"/>
          </a:xfrm>
          <a:custGeom>
            <a:avLst/>
            <a:gdLst>
              <a:gd name="connisteX0" fmla="*/ 0 w 2514600"/>
              <a:gd name="connsiteY0" fmla="*/ 203200 h 2540000"/>
              <a:gd name="connisteX1" fmla="*/ 203200 w 2514600"/>
              <a:gd name="connsiteY1" fmla="*/ 0 h 2540000"/>
              <a:gd name="connisteX2" fmla="*/ 2311400 w 2514600"/>
              <a:gd name="connsiteY2" fmla="*/ 0 h 2540000"/>
              <a:gd name="connisteX3" fmla="*/ 2514600 w 2514600"/>
              <a:gd name="connsiteY3" fmla="*/ 203200 h 2540000"/>
              <a:gd name="connisteX4" fmla="*/ 2514600 w 2514600"/>
              <a:gd name="connsiteY4" fmla="*/ 2336800 h 2540000"/>
              <a:gd name="connisteX5" fmla="*/ 2311400 w 2514600"/>
              <a:gd name="connsiteY5" fmla="*/ 2540000 h 2540000"/>
              <a:gd name="connisteX6" fmla="*/ 203200 w 2514600"/>
              <a:gd name="connsiteY6" fmla="*/ 2540000 h 2540000"/>
              <a:gd name="connisteX7" fmla="*/ 0 w 2514600"/>
              <a:gd name="connsiteY7" fmla="*/ 2336800 h 2540000"/>
              <a:gd name="connisteX8" fmla="*/ 0 w 25146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cubicBezTo>
                  <a:pt x="2514600" y="2449024"/>
                  <a:pt x="2423624" y="2540000"/>
                  <a:pt x="23114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3860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067800" y="23368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9067800" y="2895600"/>
            <a:ext cx="2514600" cy="2540000"/>
          </a:xfrm>
          <a:custGeom>
            <a:avLst/>
            <a:gdLst>
              <a:gd name="connisteX0" fmla="*/ 0 w 2514600"/>
              <a:gd name="connsiteY0" fmla="*/ 203200 h 2540000"/>
              <a:gd name="connisteX1" fmla="*/ 203200 w 2514600"/>
              <a:gd name="connsiteY1" fmla="*/ 0 h 2540000"/>
              <a:gd name="connisteX2" fmla="*/ 2311400 w 2514600"/>
              <a:gd name="connsiteY2" fmla="*/ 0 h 2540000"/>
              <a:gd name="connisteX3" fmla="*/ 2514600 w 2514600"/>
              <a:gd name="connsiteY3" fmla="*/ 203200 h 2540000"/>
              <a:gd name="connisteX4" fmla="*/ 2514600 w 2514600"/>
              <a:gd name="connsiteY4" fmla="*/ 2336800 h 2540000"/>
              <a:gd name="connisteX5" fmla="*/ 2311400 w 2514600"/>
              <a:gd name="connsiteY5" fmla="*/ 2540000 h 2540000"/>
              <a:gd name="connisteX6" fmla="*/ 203200 w 2514600"/>
              <a:gd name="connsiteY6" fmla="*/ 2540000 h 2540000"/>
              <a:gd name="connisteX7" fmla="*/ 0 w 2514600"/>
              <a:gd name="connsiteY7" fmla="*/ 2336800 h 2540000"/>
              <a:gd name="connisteX8" fmla="*/ 0 w 25146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cubicBezTo>
                  <a:pt x="2514600" y="2449024"/>
                  <a:pt x="2423624" y="2540000"/>
                  <a:pt x="23114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372600" y="3860800"/>
            <a:ext cx="190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7" Type="http://schemas.openxmlformats.org/officeDocument/2006/relationships/slideLayout" Target="../slideLayouts/slideLayout17.xml"/><Relationship Id="rId56" Type="http://schemas.openxmlformats.org/officeDocument/2006/relationships/image" Target="../media/image1.png"/><Relationship Id="rId55" Type="http://schemas.openxmlformats.org/officeDocument/2006/relationships/tags" Target="../tags/tag174.xml"/><Relationship Id="rId54" Type="http://schemas.openxmlformats.org/officeDocument/2006/relationships/tags" Target="../tags/tag173.xml"/><Relationship Id="rId53" Type="http://schemas.openxmlformats.org/officeDocument/2006/relationships/tags" Target="../tags/tag172.xml"/><Relationship Id="rId52" Type="http://schemas.openxmlformats.org/officeDocument/2006/relationships/tags" Target="../tags/tag171.xml"/><Relationship Id="rId51" Type="http://schemas.openxmlformats.org/officeDocument/2006/relationships/tags" Target="../tags/tag170.xml"/><Relationship Id="rId50" Type="http://schemas.openxmlformats.org/officeDocument/2006/relationships/tags" Target="../tags/tag169.xml"/><Relationship Id="rId5" Type="http://schemas.openxmlformats.org/officeDocument/2006/relationships/tags" Target="../tags/tag132.xml"/><Relationship Id="rId49" Type="http://schemas.openxmlformats.org/officeDocument/2006/relationships/tags" Target="../tags/tag168.xml"/><Relationship Id="rId48" Type="http://schemas.openxmlformats.org/officeDocument/2006/relationships/image" Target="../media/image9.svg"/><Relationship Id="rId47" Type="http://schemas.openxmlformats.org/officeDocument/2006/relationships/image" Target="../media/image8.png"/><Relationship Id="rId46" Type="http://schemas.openxmlformats.org/officeDocument/2006/relationships/tags" Target="../tags/tag167.xml"/><Relationship Id="rId45" Type="http://schemas.openxmlformats.org/officeDocument/2006/relationships/tags" Target="../tags/tag166.xml"/><Relationship Id="rId44" Type="http://schemas.openxmlformats.org/officeDocument/2006/relationships/tags" Target="../tags/tag165.xml"/><Relationship Id="rId43" Type="http://schemas.openxmlformats.org/officeDocument/2006/relationships/tags" Target="../tags/tag164.xml"/><Relationship Id="rId42" Type="http://schemas.openxmlformats.org/officeDocument/2006/relationships/tags" Target="../tags/tag163.xml"/><Relationship Id="rId41" Type="http://schemas.openxmlformats.org/officeDocument/2006/relationships/tags" Target="../tags/tag162.xml"/><Relationship Id="rId40" Type="http://schemas.openxmlformats.org/officeDocument/2006/relationships/tags" Target="../tags/tag161.xml"/><Relationship Id="rId4" Type="http://schemas.openxmlformats.org/officeDocument/2006/relationships/tags" Target="../tags/tag131.xml"/><Relationship Id="rId39" Type="http://schemas.openxmlformats.org/officeDocument/2006/relationships/image" Target="../media/image7.svg"/><Relationship Id="rId38" Type="http://schemas.openxmlformats.org/officeDocument/2006/relationships/image" Target="../media/image6.png"/><Relationship Id="rId37" Type="http://schemas.openxmlformats.org/officeDocument/2006/relationships/tags" Target="../tags/tag160.xml"/><Relationship Id="rId36" Type="http://schemas.openxmlformats.org/officeDocument/2006/relationships/tags" Target="../tags/tag159.xml"/><Relationship Id="rId35" Type="http://schemas.openxmlformats.org/officeDocument/2006/relationships/tags" Target="../tags/tag158.xml"/><Relationship Id="rId34" Type="http://schemas.openxmlformats.org/officeDocument/2006/relationships/tags" Target="../tags/tag157.xml"/><Relationship Id="rId33" Type="http://schemas.openxmlformats.org/officeDocument/2006/relationships/tags" Target="../tags/tag156.xml"/><Relationship Id="rId32" Type="http://schemas.openxmlformats.org/officeDocument/2006/relationships/tags" Target="../tags/tag155.xml"/><Relationship Id="rId31" Type="http://schemas.openxmlformats.org/officeDocument/2006/relationships/tags" Target="../tags/tag154.xml"/><Relationship Id="rId30" Type="http://schemas.openxmlformats.org/officeDocument/2006/relationships/image" Target="../media/image5.svg"/><Relationship Id="rId3" Type="http://schemas.openxmlformats.org/officeDocument/2006/relationships/tags" Target="../tags/tag130.xml"/><Relationship Id="rId29" Type="http://schemas.openxmlformats.org/officeDocument/2006/relationships/image" Target="../media/image4.png"/><Relationship Id="rId28" Type="http://schemas.openxmlformats.org/officeDocument/2006/relationships/tags" Target="../tags/tag153.xml"/><Relationship Id="rId27" Type="http://schemas.openxmlformats.org/officeDocument/2006/relationships/tags" Target="../tags/tag152.xml"/><Relationship Id="rId26" Type="http://schemas.openxmlformats.org/officeDocument/2006/relationships/tags" Target="../tags/tag151.xml"/><Relationship Id="rId25" Type="http://schemas.openxmlformats.org/officeDocument/2006/relationships/tags" Target="../tags/tag150.xml"/><Relationship Id="rId24" Type="http://schemas.openxmlformats.org/officeDocument/2006/relationships/tags" Target="../tags/tag149.xml"/><Relationship Id="rId23" Type="http://schemas.openxmlformats.org/officeDocument/2006/relationships/image" Target="../media/image3.svg"/><Relationship Id="rId22" Type="http://schemas.openxmlformats.org/officeDocument/2006/relationships/image" Target="../media/image2.png"/><Relationship Id="rId21" Type="http://schemas.openxmlformats.org/officeDocument/2006/relationships/tags" Target="../tags/tag148.xml"/><Relationship Id="rId20" Type="http://schemas.openxmlformats.org/officeDocument/2006/relationships/tags" Target="../tags/tag147.xml"/><Relationship Id="rId2" Type="http://schemas.openxmlformats.org/officeDocument/2006/relationships/tags" Target="../tags/tag129.xml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7" Type="http://schemas.openxmlformats.org/officeDocument/2006/relationships/slideLayout" Target="../slideLayouts/slideLayout17.xml"/><Relationship Id="rId46" Type="http://schemas.openxmlformats.org/officeDocument/2006/relationships/image" Target="../media/image1.png"/><Relationship Id="rId45" Type="http://schemas.openxmlformats.org/officeDocument/2006/relationships/image" Target="../media/image26.png"/><Relationship Id="rId44" Type="http://schemas.openxmlformats.org/officeDocument/2006/relationships/tags" Target="../tags/tag202.xml"/><Relationship Id="rId43" Type="http://schemas.openxmlformats.org/officeDocument/2006/relationships/image" Target="../media/image25.svg"/><Relationship Id="rId42" Type="http://schemas.openxmlformats.org/officeDocument/2006/relationships/image" Target="../media/image24.png"/><Relationship Id="rId41" Type="http://schemas.openxmlformats.org/officeDocument/2006/relationships/tags" Target="../tags/tag201.xml"/><Relationship Id="rId40" Type="http://schemas.openxmlformats.org/officeDocument/2006/relationships/tags" Target="../tags/tag200.xml"/><Relationship Id="rId4" Type="http://schemas.openxmlformats.org/officeDocument/2006/relationships/tags" Target="../tags/tag178.xml"/><Relationship Id="rId39" Type="http://schemas.openxmlformats.org/officeDocument/2006/relationships/tags" Target="../tags/tag199.xml"/><Relationship Id="rId38" Type="http://schemas.openxmlformats.org/officeDocument/2006/relationships/image" Target="../media/image23.svg"/><Relationship Id="rId37" Type="http://schemas.openxmlformats.org/officeDocument/2006/relationships/image" Target="../media/image22.png"/><Relationship Id="rId36" Type="http://schemas.openxmlformats.org/officeDocument/2006/relationships/tags" Target="../tags/tag198.xml"/><Relationship Id="rId35" Type="http://schemas.openxmlformats.org/officeDocument/2006/relationships/tags" Target="../tags/tag197.xml"/><Relationship Id="rId34" Type="http://schemas.openxmlformats.org/officeDocument/2006/relationships/tags" Target="../tags/tag196.xml"/><Relationship Id="rId33" Type="http://schemas.openxmlformats.org/officeDocument/2006/relationships/image" Target="../media/image21.svg"/><Relationship Id="rId32" Type="http://schemas.openxmlformats.org/officeDocument/2006/relationships/image" Target="../media/image20.png"/><Relationship Id="rId31" Type="http://schemas.openxmlformats.org/officeDocument/2006/relationships/tags" Target="../tags/tag195.xml"/><Relationship Id="rId30" Type="http://schemas.openxmlformats.org/officeDocument/2006/relationships/tags" Target="../tags/tag194.xml"/><Relationship Id="rId3" Type="http://schemas.openxmlformats.org/officeDocument/2006/relationships/tags" Target="../tags/tag177.xml"/><Relationship Id="rId29" Type="http://schemas.openxmlformats.org/officeDocument/2006/relationships/tags" Target="../tags/tag193.xml"/><Relationship Id="rId28" Type="http://schemas.openxmlformats.org/officeDocument/2006/relationships/image" Target="../media/image19.svg"/><Relationship Id="rId27" Type="http://schemas.openxmlformats.org/officeDocument/2006/relationships/image" Target="../media/image18.png"/><Relationship Id="rId26" Type="http://schemas.openxmlformats.org/officeDocument/2006/relationships/tags" Target="../tags/tag192.xml"/><Relationship Id="rId25" Type="http://schemas.openxmlformats.org/officeDocument/2006/relationships/tags" Target="../tags/tag191.xml"/><Relationship Id="rId24" Type="http://schemas.openxmlformats.org/officeDocument/2006/relationships/tags" Target="../tags/tag190.xml"/><Relationship Id="rId23" Type="http://schemas.openxmlformats.org/officeDocument/2006/relationships/image" Target="../media/image17.svg"/><Relationship Id="rId22" Type="http://schemas.openxmlformats.org/officeDocument/2006/relationships/image" Target="../media/image16.png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tags" Target="../tags/tag176.xml"/><Relationship Id="rId19" Type="http://schemas.openxmlformats.org/officeDocument/2006/relationships/tags" Target="../tags/tag187.xml"/><Relationship Id="rId18" Type="http://schemas.openxmlformats.org/officeDocument/2006/relationships/image" Target="../media/image15.svg"/><Relationship Id="rId17" Type="http://schemas.openxmlformats.org/officeDocument/2006/relationships/image" Target="../media/image14.png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27.png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7" Type="http://schemas.openxmlformats.org/officeDocument/2006/relationships/slideLayout" Target="../slideLayouts/slideLayout23.xml"/><Relationship Id="rId16" Type="http://schemas.openxmlformats.org/officeDocument/2006/relationships/tags" Target="../tags/tag213.xml"/><Relationship Id="rId15" Type="http://schemas.openxmlformats.org/officeDocument/2006/relationships/image" Target="../media/image1.png"/><Relationship Id="rId14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image" Target="../media/image31.png"/><Relationship Id="rId23" Type="http://schemas.openxmlformats.org/officeDocument/2006/relationships/slideLayout" Target="../slideLayouts/slideLayout17.xml"/><Relationship Id="rId22" Type="http://schemas.openxmlformats.org/officeDocument/2006/relationships/image" Target="../media/image1.png"/><Relationship Id="rId21" Type="http://schemas.openxmlformats.org/officeDocument/2006/relationships/tags" Target="../tags/tag226.xml"/><Relationship Id="rId20" Type="http://schemas.openxmlformats.org/officeDocument/2006/relationships/tags" Target="../tags/tag225.xml"/><Relationship Id="rId2" Type="http://schemas.openxmlformats.org/officeDocument/2006/relationships/tags" Target="../tags/tag215.xml"/><Relationship Id="rId19" Type="http://schemas.openxmlformats.org/officeDocument/2006/relationships/tags" Target="../tags/tag224.xml"/><Relationship Id="rId18" Type="http://schemas.openxmlformats.org/officeDocument/2006/relationships/image" Target="../media/image38.svg"/><Relationship Id="rId17" Type="http://schemas.openxmlformats.org/officeDocument/2006/relationships/image" Target="../media/image37.png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image" Target="../media/image36.png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tags" Target="../tags/tag21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image" Target="../media/image40.svg"/><Relationship Id="rId6" Type="http://schemas.openxmlformats.org/officeDocument/2006/relationships/image" Target="../media/image32.png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image" Target="../media/image39.jpeg"/><Relationship Id="rId20" Type="http://schemas.openxmlformats.org/officeDocument/2006/relationships/slideLayout" Target="../slideLayouts/slideLayout17.xml"/><Relationship Id="rId2" Type="http://schemas.openxmlformats.org/officeDocument/2006/relationships/tags" Target="../tags/tag228.xml"/><Relationship Id="rId19" Type="http://schemas.openxmlformats.org/officeDocument/2006/relationships/image" Target="../media/image1.png"/><Relationship Id="rId18" Type="http://schemas.openxmlformats.org/officeDocument/2006/relationships/tags" Target="../tags/tag239.xml"/><Relationship Id="rId17" Type="http://schemas.openxmlformats.org/officeDocument/2006/relationships/tags" Target="../tags/tag238.xml"/><Relationship Id="rId16" Type="http://schemas.openxmlformats.org/officeDocument/2006/relationships/tags" Target="../tags/tag237.xml"/><Relationship Id="rId15" Type="http://schemas.openxmlformats.org/officeDocument/2006/relationships/image" Target="../media/image42.jpeg"/><Relationship Id="rId14" Type="http://schemas.openxmlformats.org/officeDocument/2006/relationships/tags" Target="../tags/tag236.xml"/><Relationship Id="rId13" Type="http://schemas.openxmlformats.org/officeDocument/2006/relationships/tags" Target="../tags/tag235.xml"/><Relationship Id="rId12" Type="http://schemas.openxmlformats.org/officeDocument/2006/relationships/tags" Target="../tags/tag234.xml"/><Relationship Id="rId11" Type="http://schemas.openxmlformats.org/officeDocument/2006/relationships/tags" Target="../tags/tag233.xml"/><Relationship Id="rId10" Type="http://schemas.openxmlformats.org/officeDocument/2006/relationships/image" Target="../media/image41.jpeg"/><Relationship Id="rId1" Type="http://schemas.openxmlformats.org/officeDocument/2006/relationships/tags" Target="../tags/tag22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7" Type="http://schemas.openxmlformats.org/officeDocument/2006/relationships/slideLayout" Target="../slideLayouts/slideLayout17.xml"/><Relationship Id="rId36" Type="http://schemas.openxmlformats.org/officeDocument/2006/relationships/image" Target="../media/image1.png"/><Relationship Id="rId35" Type="http://schemas.openxmlformats.org/officeDocument/2006/relationships/image" Target="../media/image43.png"/><Relationship Id="rId34" Type="http://schemas.openxmlformats.org/officeDocument/2006/relationships/tags" Target="../tags/tag273.xml"/><Relationship Id="rId33" Type="http://schemas.openxmlformats.org/officeDocument/2006/relationships/tags" Target="../tags/tag272.xml"/><Relationship Id="rId32" Type="http://schemas.openxmlformats.org/officeDocument/2006/relationships/tags" Target="../tags/tag271.xml"/><Relationship Id="rId31" Type="http://schemas.openxmlformats.org/officeDocument/2006/relationships/tags" Target="../tags/tag270.xml"/><Relationship Id="rId30" Type="http://schemas.openxmlformats.org/officeDocument/2006/relationships/tags" Target="../tags/tag269.xml"/><Relationship Id="rId3" Type="http://schemas.openxmlformats.org/officeDocument/2006/relationships/tags" Target="../tags/tag242.xml"/><Relationship Id="rId29" Type="http://schemas.openxmlformats.org/officeDocument/2006/relationships/tags" Target="../tags/tag268.xml"/><Relationship Id="rId28" Type="http://schemas.openxmlformats.org/officeDocument/2006/relationships/tags" Target="../tags/tag267.xml"/><Relationship Id="rId27" Type="http://schemas.openxmlformats.org/officeDocument/2006/relationships/tags" Target="../tags/tag266.xml"/><Relationship Id="rId26" Type="http://schemas.openxmlformats.org/officeDocument/2006/relationships/tags" Target="../tags/tag265.xml"/><Relationship Id="rId25" Type="http://schemas.openxmlformats.org/officeDocument/2006/relationships/tags" Target="../tags/tag264.xml"/><Relationship Id="rId24" Type="http://schemas.openxmlformats.org/officeDocument/2006/relationships/tags" Target="../tags/tag263.xml"/><Relationship Id="rId23" Type="http://schemas.openxmlformats.org/officeDocument/2006/relationships/tags" Target="../tags/tag262.xml"/><Relationship Id="rId22" Type="http://schemas.openxmlformats.org/officeDocument/2006/relationships/tags" Target="../tags/tag261.xml"/><Relationship Id="rId21" Type="http://schemas.openxmlformats.org/officeDocument/2006/relationships/tags" Target="../tags/tag260.xml"/><Relationship Id="rId20" Type="http://schemas.openxmlformats.org/officeDocument/2006/relationships/tags" Target="../tags/tag259.xml"/><Relationship Id="rId2" Type="http://schemas.openxmlformats.org/officeDocument/2006/relationships/tags" Target="../tags/tag241.xml"/><Relationship Id="rId19" Type="http://schemas.openxmlformats.org/officeDocument/2006/relationships/tags" Target="../tags/tag258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274.xml"/><Relationship Id="rId4" Type="http://schemas.openxmlformats.org/officeDocument/2006/relationships/image" Target="../media/image1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image" Target="../media/image47.png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image" Target="../media/image31.png"/><Relationship Id="rId2" Type="http://schemas.openxmlformats.org/officeDocument/2006/relationships/tags" Target="../tags/tag276.xml"/><Relationship Id="rId17" Type="http://schemas.openxmlformats.org/officeDocument/2006/relationships/slideLayout" Target="../slideLayouts/slideLayout27.xml"/><Relationship Id="rId16" Type="http://schemas.openxmlformats.org/officeDocument/2006/relationships/tags" Target="../tags/tag286.xml"/><Relationship Id="rId15" Type="http://schemas.openxmlformats.org/officeDocument/2006/relationships/image" Target="../media/image1.png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image" Target="../media/image48.png"/><Relationship Id="rId10" Type="http://schemas.openxmlformats.org/officeDocument/2006/relationships/tags" Target="../tags/tag282.xml"/><Relationship Id="rId1" Type="http://schemas.openxmlformats.org/officeDocument/2006/relationships/tags" Target="../tags/tag27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87.xml"/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4" Type="http://schemas.openxmlformats.org/officeDocument/2006/relationships/slideLayout" Target="../slideLayouts/slideLayout17.xml"/><Relationship Id="rId33" Type="http://schemas.openxmlformats.org/officeDocument/2006/relationships/image" Target="../media/image1.png"/><Relationship Id="rId32" Type="http://schemas.openxmlformats.org/officeDocument/2006/relationships/tags" Target="../tags/tag319.xml"/><Relationship Id="rId31" Type="http://schemas.openxmlformats.org/officeDocument/2006/relationships/tags" Target="../tags/tag318.xml"/><Relationship Id="rId30" Type="http://schemas.openxmlformats.org/officeDocument/2006/relationships/tags" Target="../tags/tag317.xml"/><Relationship Id="rId3" Type="http://schemas.openxmlformats.org/officeDocument/2006/relationships/tags" Target="../tags/tag290.xml"/><Relationship Id="rId29" Type="http://schemas.openxmlformats.org/officeDocument/2006/relationships/tags" Target="../tags/tag316.xml"/><Relationship Id="rId28" Type="http://schemas.openxmlformats.org/officeDocument/2006/relationships/tags" Target="../tags/tag315.xml"/><Relationship Id="rId27" Type="http://schemas.openxmlformats.org/officeDocument/2006/relationships/tags" Target="../tags/tag314.xml"/><Relationship Id="rId26" Type="http://schemas.openxmlformats.org/officeDocument/2006/relationships/tags" Target="../tags/tag313.xml"/><Relationship Id="rId25" Type="http://schemas.openxmlformats.org/officeDocument/2006/relationships/tags" Target="../tags/tag312.xml"/><Relationship Id="rId24" Type="http://schemas.openxmlformats.org/officeDocument/2006/relationships/tags" Target="../tags/tag311.xml"/><Relationship Id="rId23" Type="http://schemas.openxmlformats.org/officeDocument/2006/relationships/tags" Target="../tags/tag310.xml"/><Relationship Id="rId22" Type="http://schemas.openxmlformats.org/officeDocument/2006/relationships/tags" Target="../tags/tag309.xml"/><Relationship Id="rId21" Type="http://schemas.openxmlformats.org/officeDocument/2006/relationships/tags" Target="../tags/tag308.xml"/><Relationship Id="rId20" Type="http://schemas.openxmlformats.org/officeDocument/2006/relationships/tags" Target="../tags/tag307.xml"/><Relationship Id="rId2" Type="http://schemas.openxmlformats.org/officeDocument/2006/relationships/tags" Target="../tags/tag289.xml"/><Relationship Id="rId19" Type="http://schemas.openxmlformats.org/officeDocument/2006/relationships/tags" Target="../tags/tag306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tags" Target="../tags/tag28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21.xml"/><Relationship Id="rId1" Type="http://schemas.openxmlformats.org/officeDocument/2006/relationships/tags" Target="../tags/tag3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489843" y="1741218"/>
            <a:ext cx="9212314" cy="17278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Shubnikov - de Haas </a:t>
            </a:r>
            <a:r>
              <a:rPr lang="zh-CN" altLang="en-US"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振荡</a:t>
            </a:r>
            <a:r>
              <a:rPr lang="zh-CN" altLang="en-US"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的数据处理</a:t>
            </a:r>
            <a:r>
              <a:rPr lang="zh-CN" altLang="en-US"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lang="zh-CN" altLang="en-US" sz="5400" b="1" spc="1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715000" y="3886835"/>
            <a:ext cx="762000" cy="2857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76786" y="4752041"/>
            <a:ext cx="143835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</a:t>
            </a:r>
            <a:r>
              <a:rPr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人：齐虹淦</a:t>
            </a:r>
            <a:endParaRPr sz="1350" spc="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3000"/>
              </a:lnSpc>
            </a:pPr>
            <a:endParaRPr sz="1350" spc="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3000"/>
              </a:lnSpc>
            </a:pPr>
            <a:endParaRPr sz="1350" spc="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3000"/>
              </a:lnSpc>
            </a:pPr>
            <a:endParaRPr sz="1350" spc="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272754" y="5254298"/>
            <a:ext cx="164648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r>
              <a:rPr lang="zh-CN" altLang="en-US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350" spc="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350" spc="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6477000" y="0"/>
            <a:ext cx="5715000" cy="6858000"/>
          </a:xfrm>
          <a:custGeom>
            <a:avLst/>
            <a:gdLst>
              <a:gd name="sw" fmla="*/ 1 w 9000"/>
              <a:gd name="sh" fmla="*/ 1 h 10800"/>
              <a:gd name="mins" fmla="min sw sh"/>
              <a:gd name="dsw" fmla="+- 0 sw mins"/>
              <a:gd name="dsh" fmla="+- 0 sh mins"/>
              <a:gd name="p0x0" fmla="*/ 1800 w 9000"/>
              <a:gd name="p0y0" fmla="*/ 0 h 10800"/>
              <a:gd name="p0x1" fmla="*/ 9000 w 9000"/>
              <a:gd name="p0y1" fmla="*/ 0 h 10800"/>
              <a:gd name="p0x2" fmla="*/ 9000 w 9000"/>
              <a:gd name="p0y2" fmla="*/ 10800 h 10800"/>
              <a:gd name="p0x3" fmla="*/ 0 w 9000"/>
              <a:gd name="p0y3" fmla="*/ 10800 h 10800"/>
              <a:gd name="p0x4" fmla="*/ 1800 w 9000"/>
              <a:gd name="p0y4" fmla="*/ 0 h 108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1143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" y="409575"/>
            <a:ext cx="116205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 spc="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000" b="1" spc="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038225" y="1162050"/>
            <a:ext cx="4320000" cy="2520000"/>
            <a:chOff x="720" y="1830"/>
            <a:chExt cx="5760" cy="4004"/>
          </a:xfrm>
          <a:effectLst>
            <a:outerShdw blurRad="214313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5760" cy="4005"/>
            </a:xfrm>
            <a:custGeom>
              <a:avLst/>
              <a:gdLst>
                <a:gd name="sw" fmla="*/ 1 w 5760"/>
                <a:gd name="sh" fmla="*/ 1 h 4005"/>
                <a:gd name="mins" fmla="min sw sh"/>
                <a:gd name="dsw" fmla="+- 0 sw mins"/>
                <a:gd name="dsh" fmla="+- 0 sh mins"/>
                <a:gd name="p0x0" fmla="*/ 180 w 5760"/>
                <a:gd name="p0y0" fmla="*/ 0 h 4005"/>
                <a:gd name="p0x1" fmla="*/ 5580 w 5760"/>
                <a:gd name="p0y1" fmla="*/ 0 h 4005"/>
                <a:gd name="p0x2" fmla="*/ 5679 w 5760"/>
                <a:gd name="p0y2" fmla="*/ 0 h 4005"/>
                <a:gd name="p0x3" fmla="*/ 5760 w 5760"/>
                <a:gd name="p0y3" fmla="*/ 80 h 4005"/>
                <a:gd name="p0x4" fmla="*/ 5760 w 5760"/>
                <a:gd name="p0y4" fmla="*/ 180 h 4005"/>
                <a:gd name="p0x5" fmla="*/ 5760 w 5760"/>
                <a:gd name="p0y5" fmla="*/ 3825 h 4005"/>
                <a:gd name="p0x6" fmla="*/ 5760 w 5760"/>
                <a:gd name="p0y6" fmla="*/ 3924 h 4005"/>
                <a:gd name="p0x7" fmla="*/ 5679 w 5760"/>
                <a:gd name="p0y7" fmla="*/ 4005 h 4005"/>
                <a:gd name="p0x8" fmla="*/ 5580 w 5760"/>
                <a:gd name="p0y8" fmla="*/ 4005 h 4005"/>
                <a:gd name="p0x9" fmla="*/ 180 w 5760"/>
                <a:gd name="p0y9" fmla="*/ 4005 h 4005"/>
                <a:gd name="p0x10" fmla="*/ 80 w 5760"/>
                <a:gd name="p0y10" fmla="*/ 4005 h 4005"/>
                <a:gd name="p0x11" fmla="*/ 0 w 5760"/>
                <a:gd name="p0y11" fmla="*/ 3924 h 4005"/>
                <a:gd name="p0x12" fmla="*/ 0 w 5760"/>
                <a:gd name="p0y12" fmla="*/ 3825 h 4005"/>
                <a:gd name="p0x13" fmla="*/ 0 w 5760"/>
                <a:gd name="p0y13" fmla="*/ 180 h 4005"/>
                <a:gd name="p0x14" fmla="*/ 0 w 5760"/>
                <a:gd name="p0y14" fmla="*/ 80 h 4005"/>
                <a:gd name="p0x15" fmla="*/ 80 w 5760"/>
                <a:gd name="p0y15" fmla="*/ 0 h 4005"/>
                <a:gd name="p0x16" fmla="*/ 180 w 5760"/>
                <a:gd name="p0y16" fmla="*/ 0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720" y="1830"/>
              <a:ext cx="180" cy="4005"/>
            </a:xfrm>
            <a:custGeom>
              <a:avLst/>
              <a:gdLst>
                <a:gd name="sw" fmla="*/ 1 w 180"/>
                <a:gd name="sh" fmla="*/ 1 h 4005"/>
                <a:gd name="mins" fmla="min sw sh"/>
                <a:gd name="dsw" fmla="+- 0 sw mins"/>
                <a:gd name="dsh" fmla="+- 0 sh mins"/>
                <a:gd name="p0x0" fmla="*/ 0 w 180"/>
                <a:gd name="p0y0" fmla="*/ 3825 h 4005"/>
                <a:gd name="p0x1" fmla="*/ 0 w 180"/>
                <a:gd name="p0y1" fmla="*/ 180 h 4005"/>
                <a:gd name="p0x2" fmla="*/ 0 w 180"/>
                <a:gd name="p0y2" fmla="*/ 80 h 4005"/>
                <a:gd name="p0x3" fmla="*/ 80 w 180"/>
                <a:gd name="p0y3" fmla="*/ 0 h 4005"/>
                <a:gd name="p0x4" fmla="*/ 180 w 180"/>
                <a:gd name="p0y4" fmla="*/ 0 h 4005"/>
                <a:gd name="p0x5" fmla="*/ 130 w 180"/>
                <a:gd name="p0y5" fmla="*/ 0 h 4005"/>
                <a:gd name="p0x6" fmla="*/ 90 w 180"/>
                <a:gd name="p0y6" fmla="*/ 80 h 4005"/>
                <a:gd name="p0x7" fmla="*/ 90 w 180"/>
                <a:gd name="p0y7" fmla="*/ 180 h 4005"/>
                <a:gd name="p0x8" fmla="*/ 90 w 180"/>
                <a:gd name="p0y8" fmla="*/ 3825 h 4005"/>
                <a:gd name="p0x9" fmla="*/ 90 w 180"/>
                <a:gd name="p0y9" fmla="*/ 3924 h 4005"/>
                <a:gd name="p0x10" fmla="*/ 130 w 180"/>
                <a:gd name="p0y10" fmla="*/ 4005 h 4005"/>
                <a:gd name="p0x11" fmla="*/ 180 w 180"/>
                <a:gd name="p0y11" fmla="*/ 4005 h 4005"/>
                <a:gd name="p0x12" fmla="*/ 80 w 180"/>
                <a:gd name="p0y12" fmla="*/ 4005 h 4005"/>
                <a:gd name="p0x13" fmla="*/ 0 w 180"/>
                <a:gd name="p0y13" fmla="*/ 3924 h 4005"/>
                <a:gd name="p0x14" fmla="*/ 0 w 180"/>
                <a:gd name="p0y14" fmla="*/ 3825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867275" y="1245870"/>
            <a:ext cx="1000125" cy="5705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6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3924300" y="3407410"/>
            <a:ext cx="190500" cy="38100"/>
          </a:xfrm>
          <a:custGeom>
            <a:avLst/>
            <a:gdLst>
              <a:gd name="sw" fmla="*/ 1 w 300"/>
              <a:gd name="sh" fmla="*/ 1 h 60"/>
              <a:gd name="mins" fmla="min sw sh"/>
              <a:gd name="dsw" fmla="+- 0 sw mins"/>
              <a:gd name="dsh" fmla="+- 0 sh mins"/>
              <a:gd name="p0x0" fmla="*/ 30 w 300"/>
              <a:gd name="p0y0" fmla="*/ 0 h 60"/>
              <a:gd name="p0x1" fmla="*/ 270 w 300"/>
              <a:gd name="p0y1" fmla="*/ 0 h 60"/>
              <a:gd name="p0x2" fmla="*/ 286 w 300"/>
              <a:gd name="p0y2" fmla="*/ 0 h 60"/>
              <a:gd name="p0x3" fmla="*/ 300 w 300"/>
              <a:gd name="p0y3" fmla="*/ 13 h 60"/>
              <a:gd name="p0x4" fmla="*/ 300 w 300"/>
              <a:gd name="p0y4" fmla="*/ 30 h 60"/>
              <a:gd name="p0x5" fmla="*/ 300 w 300"/>
              <a:gd name="p0y5" fmla="*/ 46 h 60"/>
              <a:gd name="p0x6" fmla="*/ 286 w 300"/>
              <a:gd name="p0y6" fmla="*/ 60 h 60"/>
              <a:gd name="p0x7" fmla="*/ 270 w 300"/>
              <a:gd name="p0y7" fmla="*/ 60 h 60"/>
              <a:gd name="p0x8" fmla="*/ 30 w 300"/>
              <a:gd name="p0y8" fmla="*/ 60 h 60"/>
              <a:gd name="p0x9" fmla="*/ 13 w 300"/>
              <a:gd name="p0y9" fmla="*/ 60 h 60"/>
              <a:gd name="p0x10" fmla="*/ 0 w 300"/>
              <a:gd name="p0y10" fmla="*/ 46 h 60"/>
              <a:gd name="p0x11" fmla="*/ 0 w 300"/>
              <a:gd name="p0y11" fmla="*/ 30 h 60"/>
              <a:gd name="p0x12" fmla="*/ 0 w 300"/>
              <a:gd name="p0y12" fmla="*/ 13 h 60"/>
              <a:gd name="p0x13" fmla="*/ 13 w 300"/>
              <a:gd name="p0y13" fmla="*/ 0 h 60"/>
              <a:gd name="p0x14" fmla="*/ 30 w 3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5972175" y="1109980"/>
            <a:ext cx="4320000" cy="2520000"/>
            <a:chOff x="6720" y="1830"/>
            <a:chExt cx="5760" cy="4004"/>
          </a:xfrm>
          <a:effectLst>
            <a:outerShdw blurRad="214313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18" name="任意多边形 17"/>
            <p:cNvSpPr/>
            <p:nvPr>
              <p:custDataLst>
                <p:tags r:id="rId8"/>
              </p:custDataLst>
            </p:nvPr>
          </p:nvSpPr>
          <p:spPr>
            <a:xfrm>
              <a:off x="6720" y="1830"/>
              <a:ext cx="5760" cy="4005"/>
            </a:xfrm>
            <a:custGeom>
              <a:avLst/>
              <a:gdLst>
                <a:gd name="sw" fmla="*/ 1 w 5760"/>
                <a:gd name="sh" fmla="*/ 1 h 4005"/>
                <a:gd name="mins" fmla="min sw sh"/>
                <a:gd name="dsw" fmla="+- 0 sw mins"/>
                <a:gd name="dsh" fmla="+- 0 sh mins"/>
                <a:gd name="p0x0" fmla="*/ 180 w 5760"/>
                <a:gd name="p0y0" fmla="*/ 0 h 4005"/>
                <a:gd name="p0x1" fmla="*/ 5580 w 5760"/>
                <a:gd name="p0y1" fmla="*/ 0 h 4005"/>
                <a:gd name="p0x2" fmla="*/ 5679 w 5760"/>
                <a:gd name="p0y2" fmla="*/ 0 h 4005"/>
                <a:gd name="p0x3" fmla="*/ 5760 w 5760"/>
                <a:gd name="p0y3" fmla="*/ 80 h 4005"/>
                <a:gd name="p0x4" fmla="*/ 5760 w 5760"/>
                <a:gd name="p0y4" fmla="*/ 180 h 4005"/>
                <a:gd name="p0x5" fmla="*/ 5760 w 5760"/>
                <a:gd name="p0y5" fmla="*/ 3825 h 4005"/>
                <a:gd name="p0x6" fmla="*/ 5760 w 5760"/>
                <a:gd name="p0y6" fmla="*/ 3924 h 4005"/>
                <a:gd name="p0x7" fmla="*/ 5679 w 5760"/>
                <a:gd name="p0y7" fmla="*/ 4005 h 4005"/>
                <a:gd name="p0x8" fmla="*/ 5580 w 5760"/>
                <a:gd name="p0y8" fmla="*/ 4005 h 4005"/>
                <a:gd name="p0x9" fmla="*/ 180 w 5760"/>
                <a:gd name="p0y9" fmla="*/ 4005 h 4005"/>
                <a:gd name="p0x10" fmla="*/ 80 w 5760"/>
                <a:gd name="p0y10" fmla="*/ 4005 h 4005"/>
                <a:gd name="p0x11" fmla="*/ 0 w 5760"/>
                <a:gd name="p0y11" fmla="*/ 3924 h 4005"/>
                <a:gd name="p0x12" fmla="*/ 0 w 5760"/>
                <a:gd name="p0y12" fmla="*/ 3825 h 4005"/>
                <a:gd name="p0x13" fmla="*/ 0 w 5760"/>
                <a:gd name="p0y13" fmla="*/ 180 h 4005"/>
                <a:gd name="p0x14" fmla="*/ 0 w 5760"/>
                <a:gd name="p0y14" fmla="*/ 80 h 4005"/>
                <a:gd name="p0x15" fmla="*/ 80 w 5760"/>
                <a:gd name="p0y15" fmla="*/ 0 h 4005"/>
                <a:gd name="p0x16" fmla="*/ 180 w 5760"/>
                <a:gd name="p0y16" fmla="*/ 0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9"/>
              </p:custDataLst>
            </p:nvPr>
          </p:nvSpPr>
          <p:spPr>
            <a:xfrm>
              <a:off x="6720" y="1830"/>
              <a:ext cx="180" cy="4005"/>
            </a:xfrm>
            <a:custGeom>
              <a:avLst/>
              <a:gdLst>
                <a:gd name="sw" fmla="*/ 1 w 180"/>
                <a:gd name="sh" fmla="*/ 1 h 4005"/>
                <a:gd name="mins" fmla="min sw sh"/>
                <a:gd name="dsw" fmla="+- 0 sw mins"/>
                <a:gd name="dsh" fmla="+- 0 sh mins"/>
                <a:gd name="p0x0" fmla="*/ 0 w 180"/>
                <a:gd name="p0y0" fmla="*/ 3825 h 4005"/>
                <a:gd name="p0x1" fmla="*/ 0 w 180"/>
                <a:gd name="p0y1" fmla="*/ 180 h 4005"/>
                <a:gd name="p0x2" fmla="*/ 0 w 180"/>
                <a:gd name="p0y2" fmla="*/ 80 h 4005"/>
                <a:gd name="p0x3" fmla="*/ 80 w 180"/>
                <a:gd name="p0y3" fmla="*/ 0 h 4005"/>
                <a:gd name="p0x4" fmla="*/ 180 w 180"/>
                <a:gd name="p0y4" fmla="*/ 0 h 4005"/>
                <a:gd name="p0x5" fmla="*/ 130 w 180"/>
                <a:gd name="p0y5" fmla="*/ 0 h 4005"/>
                <a:gd name="p0x6" fmla="*/ 90 w 180"/>
                <a:gd name="p0y6" fmla="*/ 80 h 4005"/>
                <a:gd name="p0x7" fmla="*/ 90 w 180"/>
                <a:gd name="p0y7" fmla="*/ 180 h 4005"/>
                <a:gd name="p0x8" fmla="*/ 90 w 180"/>
                <a:gd name="p0y8" fmla="*/ 3825 h 4005"/>
                <a:gd name="p0x9" fmla="*/ 90 w 180"/>
                <a:gd name="p0y9" fmla="*/ 3924 h 4005"/>
                <a:gd name="p0x10" fmla="*/ 130 w 180"/>
                <a:gd name="p0y10" fmla="*/ 4005 h 4005"/>
                <a:gd name="p0x11" fmla="*/ 180 w 180"/>
                <a:gd name="p0y11" fmla="*/ 4005 h 4005"/>
                <a:gd name="p0x12" fmla="*/ 80 w 180"/>
                <a:gd name="p0y12" fmla="*/ 4005 h 4005"/>
                <a:gd name="p0x13" fmla="*/ 0 w 180"/>
                <a:gd name="p0y13" fmla="*/ 3924 h 4005"/>
                <a:gd name="p0x14" fmla="*/ 0 w 180"/>
                <a:gd name="p0y14" fmla="*/ 3825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9693275" y="1109980"/>
            <a:ext cx="1000125" cy="5705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6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11"/>
            </p:custDataLst>
          </p:nvPr>
        </p:nvSpPr>
        <p:spPr>
          <a:xfrm>
            <a:off x="8909050" y="3409950"/>
            <a:ext cx="190500" cy="38100"/>
          </a:xfrm>
          <a:custGeom>
            <a:avLst/>
            <a:gdLst>
              <a:gd name="sw" fmla="*/ 1 w 300"/>
              <a:gd name="sh" fmla="*/ 1 h 60"/>
              <a:gd name="mins" fmla="min sw sh"/>
              <a:gd name="dsw" fmla="+- 0 sw mins"/>
              <a:gd name="dsh" fmla="+- 0 sh mins"/>
              <a:gd name="p0x0" fmla="*/ 30 w 300"/>
              <a:gd name="p0y0" fmla="*/ 0 h 60"/>
              <a:gd name="p0x1" fmla="*/ 270 w 300"/>
              <a:gd name="p0y1" fmla="*/ 0 h 60"/>
              <a:gd name="p0x2" fmla="*/ 286 w 300"/>
              <a:gd name="p0y2" fmla="*/ 0 h 60"/>
              <a:gd name="p0x3" fmla="*/ 300 w 300"/>
              <a:gd name="p0y3" fmla="*/ 13 h 60"/>
              <a:gd name="p0x4" fmla="*/ 300 w 300"/>
              <a:gd name="p0y4" fmla="*/ 30 h 60"/>
              <a:gd name="p0x5" fmla="*/ 300 w 300"/>
              <a:gd name="p0y5" fmla="*/ 46 h 60"/>
              <a:gd name="p0x6" fmla="*/ 286 w 300"/>
              <a:gd name="p0y6" fmla="*/ 60 h 60"/>
              <a:gd name="p0x7" fmla="*/ 270 w 300"/>
              <a:gd name="p0y7" fmla="*/ 60 h 60"/>
              <a:gd name="p0x8" fmla="*/ 30 w 300"/>
              <a:gd name="p0y8" fmla="*/ 60 h 60"/>
              <a:gd name="p0x9" fmla="*/ 13 w 300"/>
              <a:gd name="p0y9" fmla="*/ 60 h 60"/>
              <a:gd name="p0x10" fmla="*/ 0 w 300"/>
              <a:gd name="p0y10" fmla="*/ 46 h 60"/>
              <a:gd name="p0x11" fmla="*/ 0 w 300"/>
              <a:gd name="p0y11" fmla="*/ 30 h 60"/>
              <a:gd name="p0x12" fmla="*/ 0 w 300"/>
              <a:gd name="p0y12" fmla="*/ 13 h 60"/>
              <a:gd name="p0x13" fmla="*/ 13 w 300"/>
              <a:gd name="p0y13" fmla="*/ 0 h 60"/>
              <a:gd name="p0x14" fmla="*/ 30 w 3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/>
        </p:nvGrpSpPr>
        <p:grpSpPr>
          <a:xfrm>
            <a:off x="1038225" y="3869055"/>
            <a:ext cx="4385945" cy="2542540"/>
            <a:chOff x="12720" y="1830"/>
            <a:chExt cx="5760" cy="4004"/>
          </a:xfrm>
          <a:effectLst>
            <a:outerShdw blurRad="214313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31" name="任意多边形 30"/>
            <p:cNvSpPr/>
            <p:nvPr>
              <p:custDataLst>
                <p:tags r:id="rId12"/>
              </p:custDataLst>
            </p:nvPr>
          </p:nvSpPr>
          <p:spPr>
            <a:xfrm>
              <a:off x="12720" y="1830"/>
              <a:ext cx="5760" cy="4005"/>
            </a:xfrm>
            <a:custGeom>
              <a:avLst/>
              <a:gdLst>
                <a:gd name="sw" fmla="*/ 1 w 5760"/>
                <a:gd name="sh" fmla="*/ 1 h 4005"/>
                <a:gd name="mins" fmla="min sw sh"/>
                <a:gd name="dsw" fmla="+- 0 sw mins"/>
                <a:gd name="dsh" fmla="+- 0 sh mins"/>
                <a:gd name="p0x0" fmla="*/ 180 w 5760"/>
                <a:gd name="p0y0" fmla="*/ 0 h 4005"/>
                <a:gd name="p0x1" fmla="*/ 5580 w 5760"/>
                <a:gd name="p0y1" fmla="*/ 0 h 4005"/>
                <a:gd name="p0x2" fmla="*/ 5679 w 5760"/>
                <a:gd name="p0y2" fmla="*/ 0 h 4005"/>
                <a:gd name="p0x3" fmla="*/ 5760 w 5760"/>
                <a:gd name="p0y3" fmla="*/ 80 h 4005"/>
                <a:gd name="p0x4" fmla="*/ 5760 w 5760"/>
                <a:gd name="p0y4" fmla="*/ 180 h 4005"/>
                <a:gd name="p0x5" fmla="*/ 5760 w 5760"/>
                <a:gd name="p0y5" fmla="*/ 3825 h 4005"/>
                <a:gd name="p0x6" fmla="*/ 5760 w 5760"/>
                <a:gd name="p0y6" fmla="*/ 3924 h 4005"/>
                <a:gd name="p0x7" fmla="*/ 5679 w 5760"/>
                <a:gd name="p0y7" fmla="*/ 4005 h 4005"/>
                <a:gd name="p0x8" fmla="*/ 5580 w 5760"/>
                <a:gd name="p0y8" fmla="*/ 4005 h 4005"/>
                <a:gd name="p0x9" fmla="*/ 180 w 5760"/>
                <a:gd name="p0y9" fmla="*/ 4005 h 4005"/>
                <a:gd name="p0x10" fmla="*/ 80 w 5760"/>
                <a:gd name="p0y10" fmla="*/ 4005 h 4005"/>
                <a:gd name="p0x11" fmla="*/ 0 w 5760"/>
                <a:gd name="p0y11" fmla="*/ 3924 h 4005"/>
                <a:gd name="p0x12" fmla="*/ 0 w 5760"/>
                <a:gd name="p0y12" fmla="*/ 3825 h 4005"/>
                <a:gd name="p0x13" fmla="*/ 0 w 5760"/>
                <a:gd name="p0y13" fmla="*/ 180 h 4005"/>
                <a:gd name="p0x14" fmla="*/ 0 w 5760"/>
                <a:gd name="p0y14" fmla="*/ 80 h 4005"/>
                <a:gd name="p0x15" fmla="*/ 80 w 5760"/>
                <a:gd name="p0y15" fmla="*/ 0 h 4005"/>
                <a:gd name="p0x16" fmla="*/ 180 w 5760"/>
                <a:gd name="p0y16" fmla="*/ 0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13"/>
              </p:custDataLst>
            </p:nvPr>
          </p:nvSpPr>
          <p:spPr>
            <a:xfrm>
              <a:off x="12720" y="1830"/>
              <a:ext cx="180" cy="4005"/>
            </a:xfrm>
            <a:custGeom>
              <a:avLst/>
              <a:gdLst>
                <a:gd name="sw" fmla="*/ 1 w 180"/>
                <a:gd name="sh" fmla="*/ 1 h 4005"/>
                <a:gd name="mins" fmla="min sw sh"/>
                <a:gd name="dsw" fmla="+- 0 sw mins"/>
                <a:gd name="dsh" fmla="+- 0 sh mins"/>
                <a:gd name="p0x0" fmla="*/ 0 w 180"/>
                <a:gd name="p0y0" fmla="*/ 3825 h 4005"/>
                <a:gd name="p0x1" fmla="*/ 0 w 180"/>
                <a:gd name="p0y1" fmla="*/ 180 h 4005"/>
                <a:gd name="p0x2" fmla="*/ 0 w 180"/>
                <a:gd name="p0y2" fmla="*/ 80 h 4005"/>
                <a:gd name="p0x3" fmla="*/ 80 w 180"/>
                <a:gd name="p0y3" fmla="*/ 0 h 4005"/>
                <a:gd name="p0x4" fmla="*/ 180 w 180"/>
                <a:gd name="p0y4" fmla="*/ 0 h 4005"/>
                <a:gd name="p0x5" fmla="*/ 130 w 180"/>
                <a:gd name="p0y5" fmla="*/ 0 h 4005"/>
                <a:gd name="p0x6" fmla="*/ 90 w 180"/>
                <a:gd name="p0y6" fmla="*/ 80 h 4005"/>
                <a:gd name="p0x7" fmla="*/ 90 w 180"/>
                <a:gd name="p0y7" fmla="*/ 180 h 4005"/>
                <a:gd name="p0x8" fmla="*/ 90 w 180"/>
                <a:gd name="p0y8" fmla="*/ 3825 h 4005"/>
                <a:gd name="p0x9" fmla="*/ 90 w 180"/>
                <a:gd name="p0y9" fmla="*/ 3924 h 4005"/>
                <a:gd name="p0x10" fmla="*/ 130 w 180"/>
                <a:gd name="p0y10" fmla="*/ 4005 h 4005"/>
                <a:gd name="p0x11" fmla="*/ 180 w 180"/>
                <a:gd name="p0y11" fmla="*/ 4005 h 4005"/>
                <a:gd name="p0x12" fmla="*/ 80 w 180"/>
                <a:gd name="p0y12" fmla="*/ 4005 h 4005"/>
                <a:gd name="p0x13" fmla="*/ 0 w 180"/>
                <a:gd name="p0y13" fmla="*/ 3924 h 4005"/>
                <a:gd name="p0x14" fmla="*/ 0 w 180"/>
                <a:gd name="p0y14" fmla="*/ 3825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4796790" y="3952875"/>
            <a:ext cx="1000125" cy="5705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6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15"/>
            </p:custDataLst>
          </p:nvPr>
        </p:nvSpPr>
        <p:spPr>
          <a:xfrm>
            <a:off x="3924300" y="6155055"/>
            <a:ext cx="190500" cy="38100"/>
          </a:xfrm>
          <a:custGeom>
            <a:avLst/>
            <a:gdLst>
              <a:gd name="sw" fmla="*/ 1 w 300"/>
              <a:gd name="sh" fmla="*/ 1 h 60"/>
              <a:gd name="mins" fmla="min sw sh"/>
              <a:gd name="dsw" fmla="+- 0 sw mins"/>
              <a:gd name="dsh" fmla="+- 0 sh mins"/>
              <a:gd name="p0x0" fmla="*/ 30 w 300"/>
              <a:gd name="p0y0" fmla="*/ 0 h 60"/>
              <a:gd name="p0x1" fmla="*/ 270 w 300"/>
              <a:gd name="p0y1" fmla="*/ 0 h 60"/>
              <a:gd name="p0x2" fmla="*/ 286 w 300"/>
              <a:gd name="p0y2" fmla="*/ 0 h 60"/>
              <a:gd name="p0x3" fmla="*/ 300 w 300"/>
              <a:gd name="p0y3" fmla="*/ 13 h 60"/>
              <a:gd name="p0x4" fmla="*/ 300 w 300"/>
              <a:gd name="p0y4" fmla="*/ 30 h 60"/>
              <a:gd name="p0x5" fmla="*/ 300 w 300"/>
              <a:gd name="p0y5" fmla="*/ 46 h 60"/>
              <a:gd name="p0x6" fmla="*/ 286 w 300"/>
              <a:gd name="p0y6" fmla="*/ 60 h 60"/>
              <a:gd name="p0x7" fmla="*/ 270 w 300"/>
              <a:gd name="p0y7" fmla="*/ 60 h 60"/>
              <a:gd name="p0x8" fmla="*/ 30 w 300"/>
              <a:gd name="p0y8" fmla="*/ 60 h 60"/>
              <a:gd name="p0x9" fmla="*/ 13 w 300"/>
              <a:gd name="p0y9" fmla="*/ 60 h 60"/>
              <a:gd name="p0x10" fmla="*/ 0 w 300"/>
              <a:gd name="p0y10" fmla="*/ 46 h 60"/>
              <a:gd name="p0x11" fmla="*/ 0 w 300"/>
              <a:gd name="p0y11" fmla="*/ 30 h 60"/>
              <a:gd name="p0x12" fmla="*/ 0 w 300"/>
              <a:gd name="p0y12" fmla="*/ 13 h 60"/>
              <a:gd name="p0x13" fmla="*/ 13 w 300"/>
              <a:gd name="p0y13" fmla="*/ 0 h 60"/>
              <a:gd name="p0x14" fmla="*/ 30 w 3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5972175" y="3891915"/>
            <a:ext cx="4320000" cy="2520000"/>
            <a:chOff x="720" y="6075"/>
            <a:chExt cx="5760" cy="4004"/>
          </a:xfrm>
          <a:effectLst>
            <a:outerShdw blurRad="214313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44" name="任意多边形 43"/>
            <p:cNvSpPr/>
            <p:nvPr>
              <p:custDataLst>
                <p:tags r:id="rId16"/>
              </p:custDataLst>
            </p:nvPr>
          </p:nvSpPr>
          <p:spPr>
            <a:xfrm>
              <a:off x="720" y="6075"/>
              <a:ext cx="5760" cy="4005"/>
            </a:xfrm>
            <a:custGeom>
              <a:avLst/>
              <a:gdLst>
                <a:gd name="sw" fmla="*/ 1 w 5760"/>
                <a:gd name="sh" fmla="*/ 1 h 4005"/>
                <a:gd name="mins" fmla="min sw sh"/>
                <a:gd name="dsw" fmla="+- 0 sw mins"/>
                <a:gd name="dsh" fmla="+- 0 sh mins"/>
                <a:gd name="p0x0" fmla="*/ 180 w 5760"/>
                <a:gd name="p0y0" fmla="*/ 0 h 4005"/>
                <a:gd name="p0x1" fmla="*/ 5580 w 5760"/>
                <a:gd name="p0y1" fmla="*/ 0 h 4005"/>
                <a:gd name="p0x2" fmla="*/ 5679 w 5760"/>
                <a:gd name="p0y2" fmla="*/ 0 h 4005"/>
                <a:gd name="p0x3" fmla="*/ 5760 w 5760"/>
                <a:gd name="p0y3" fmla="*/ 80 h 4005"/>
                <a:gd name="p0x4" fmla="*/ 5760 w 5760"/>
                <a:gd name="p0y4" fmla="*/ 180 h 4005"/>
                <a:gd name="p0x5" fmla="*/ 5760 w 5760"/>
                <a:gd name="p0y5" fmla="*/ 3825 h 4005"/>
                <a:gd name="p0x6" fmla="*/ 5760 w 5760"/>
                <a:gd name="p0y6" fmla="*/ 3924 h 4005"/>
                <a:gd name="p0x7" fmla="*/ 5679 w 5760"/>
                <a:gd name="p0y7" fmla="*/ 4005 h 4005"/>
                <a:gd name="p0x8" fmla="*/ 5580 w 5760"/>
                <a:gd name="p0y8" fmla="*/ 4005 h 4005"/>
                <a:gd name="p0x9" fmla="*/ 180 w 5760"/>
                <a:gd name="p0y9" fmla="*/ 4005 h 4005"/>
                <a:gd name="p0x10" fmla="*/ 80 w 5760"/>
                <a:gd name="p0y10" fmla="*/ 4005 h 4005"/>
                <a:gd name="p0x11" fmla="*/ 0 w 5760"/>
                <a:gd name="p0y11" fmla="*/ 3924 h 4005"/>
                <a:gd name="p0x12" fmla="*/ 0 w 5760"/>
                <a:gd name="p0y12" fmla="*/ 3825 h 4005"/>
                <a:gd name="p0x13" fmla="*/ 0 w 5760"/>
                <a:gd name="p0y13" fmla="*/ 180 h 4005"/>
                <a:gd name="p0x14" fmla="*/ 0 w 5760"/>
                <a:gd name="p0y14" fmla="*/ 80 h 4005"/>
                <a:gd name="p0x15" fmla="*/ 80 w 5760"/>
                <a:gd name="p0y15" fmla="*/ 0 h 4005"/>
                <a:gd name="p0x16" fmla="*/ 180 w 5760"/>
                <a:gd name="p0y16" fmla="*/ 0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17"/>
              </p:custDataLst>
            </p:nvPr>
          </p:nvSpPr>
          <p:spPr>
            <a:xfrm>
              <a:off x="720" y="6075"/>
              <a:ext cx="180" cy="4005"/>
            </a:xfrm>
            <a:custGeom>
              <a:avLst/>
              <a:gdLst>
                <a:gd name="sw" fmla="*/ 1 w 180"/>
                <a:gd name="sh" fmla="*/ 1 h 4005"/>
                <a:gd name="mins" fmla="min sw sh"/>
                <a:gd name="dsw" fmla="+- 0 sw mins"/>
                <a:gd name="dsh" fmla="+- 0 sh mins"/>
                <a:gd name="p0x0" fmla="*/ 0 w 180"/>
                <a:gd name="p0y0" fmla="*/ 3825 h 4005"/>
                <a:gd name="p0x1" fmla="*/ 0 w 180"/>
                <a:gd name="p0y1" fmla="*/ 180 h 4005"/>
                <a:gd name="p0x2" fmla="*/ 0 w 180"/>
                <a:gd name="p0y2" fmla="*/ 80 h 4005"/>
                <a:gd name="p0x3" fmla="*/ 80 w 180"/>
                <a:gd name="p0y3" fmla="*/ 0 h 4005"/>
                <a:gd name="p0x4" fmla="*/ 180 w 180"/>
                <a:gd name="p0y4" fmla="*/ 0 h 4005"/>
                <a:gd name="p0x5" fmla="*/ 130 w 180"/>
                <a:gd name="p0y5" fmla="*/ 0 h 4005"/>
                <a:gd name="p0x6" fmla="*/ 90 w 180"/>
                <a:gd name="p0y6" fmla="*/ 80 h 4005"/>
                <a:gd name="p0x7" fmla="*/ 90 w 180"/>
                <a:gd name="p0y7" fmla="*/ 180 h 4005"/>
                <a:gd name="p0x8" fmla="*/ 90 w 180"/>
                <a:gd name="p0y8" fmla="*/ 3825 h 4005"/>
                <a:gd name="p0x9" fmla="*/ 90 w 180"/>
                <a:gd name="p0y9" fmla="*/ 3924 h 4005"/>
                <a:gd name="p0x10" fmla="*/ 130 w 180"/>
                <a:gd name="p0y10" fmla="*/ 4005 h 4005"/>
                <a:gd name="p0x11" fmla="*/ 180 w 180"/>
                <a:gd name="p0y11" fmla="*/ 4005 h 4005"/>
                <a:gd name="p0x12" fmla="*/ 80 w 180"/>
                <a:gd name="p0y12" fmla="*/ 4005 h 4005"/>
                <a:gd name="p0x13" fmla="*/ 0 w 180"/>
                <a:gd name="p0y13" fmla="*/ 3924 h 4005"/>
                <a:gd name="p0x14" fmla="*/ 0 w 180"/>
                <a:gd name="p0y14" fmla="*/ 3825 h 40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文本框 46"/>
          <p:cNvSpPr txBox="1"/>
          <p:nvPr>
            <p:custDataLst>
              <p:tags r:id="rId18"/>
            </p:custDataLst>
          </p:nvPr>
        </p:nvSpPr>
        <p:spPr>
          <a:xfrm>
            <a:off x="9688830" y="3952875"/>
            <a:ext cx="1000125" cy="5705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6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19"/>
            </p:custDataLst>
          </p:nvPr>
        </p:nvSpPr>
        <p:spPr>
          <a:xfrm>
            <a:off x="8909050" y="6155055"/>
            <a:ext cx="190500" cy="38100"/>
          </a:xfrm>
          <a:custGeom>
            <a:avLst/>
            <a:gdLst>
              <a:gd name="sw" fmla="*/ 1 w 300"/>
              <a:gd name="sh" fmla="*/ 1 h 60"/>
              <a:gd name="mins" fmla="min sw sh"/>
              <a:gd name="dsw" fmla="+- 0 sw mins"/>
              <a:gd name="dsh" fmla="+- 0 sh mins"/>
              <a:gd name="p0x0" fmla="*/ 30 w 300"/>
              <a:gd name="p0y0" fmla="*/ 0 h 60"/>
              <a:gd name="p0x1" fmla="*/ 270 w 300"/>
              <a:gd name="p0y1" fmla="*/ 0 h 60"/>
              <a:gd name="p0x2" fmla="*/ 286 w 300"/>
              <a:gd name="p0y2" fmla="*/ 0 h 60"/>
              <a:gd name="p0x3" fmla="*/ 300 w 300"/>
              <a:gd name="p0y3" fmla="*/ 13 h 60"/>
              <a:gd name="p0x4" fmla="*/ 300 w 300"/>
              <a:gd name="p0y4" fmla="*/ 30 h 60"/>
              <a:gd name="p0x5" fmla="*/ 300 w 300"/>
              <a:gd name="p0y5" fmla="*/ 46 h 60"/>
              <a:gd name="p0x6" fmla="*/ 286 w 300"/>
              <a:gd name="p0y6" fmla="*/ 60 h 60"/>
              <a:gd name="p0x7" fmla="*/ 270 w 300"/>
              <a:gd name="p0y7" fmla="*/ 60 h 60"/>
              <a:gd name="p0x8" fmla="*/ 30 w 300"/>
              <a:gd name="p0y8" fmla="*/ 60 h 60"/>
              <a:gd name="p0x9" fmla="*/ 13 w 300"/>
              <a:gd name="p0y9" fmla="*/ 60 h 60"/>
              <a:gd name="p0x10" fmla="*/ 0 w 300"/>
              <a:gd name="p0y10" fmla="*/ 46 h 60"/>
              <a:gd name="p0x11" fmla="*/ 0 w 300"/>
              <a:gd name="p0y11" fmla="*/ 30 h 60"/>
              <a:gd name="p0x12" fmla="*/ 0 w 300"/>
              <a:gd name="p0y12" fmla="*/ 13 h 60"/>
              <a:gd name="p0x13" fmla="*/ 13 w 300"/>
              <a:gd name="p0y13" fmla="*/ 0 h 60"/>
              <a:gd name="p0x14" fmla="*/ 30 w 3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20"/>
            </p:custDataLst>
          </p:nvPr>
        </p:nvSpPr>
        <p:spPr>
          <a:xfrm>
            <a:off x="1285875" y="135255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1409700" y="1471295"/>
            <a:ext cx="209550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24"/>
            </p:custDataLst>
          </p:nvPr>
        </p:nvSpPr>
        <p:spPr>
          <a:xfrm>
            <a:off x="1285875" y="1924050"/>
            <a:ext cx="32194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5"/>
            </p:custDataLst>
          </p:nvPr>
        </p:nvSpPr>
        <p:spPr>
          <a:xfrm>
            <a:off x="1285875" y="33216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6"/>
            </p:custDataLst>
          </p:nvPr>
        </p:nvSpPr>
        <p:spPr>
          <a:xfrm>
            <a:off x="1537970" y="3255010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研究目标</a:t>
            </a:r>
            <a:endParaRPr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7"/>
            </p:custDataLst>
          </p:nvPr>
        </p:nvSpPr>
        <p:spPr>
          <a:xfrm>
            <a:off x="6323330" y="135255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6432868" y="1489075"/>
            <a:ext cx="238125" cy="2146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1"/>
            </p:custDataLst>
          </p:nvPr>
        </p:nvSpPr>
        <p:spPr>
          <a:xfrm>
            <a:off x="6315075" y="1924050"/>
            <a:ext cx="32194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数据处理方法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6181725" y="29883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6315075" y="2921635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快速傅里叶变换</a:t>
            </a:r>
            <a:endParaRPr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6189980" y="33216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5"/>
            </p:custDataLst>
          </p:nvPr>
        </p:nvSpPr>
        <p:spPr>
          <a:xfrm>
            <a:off x="6323330" y="3255010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载流子有效质量，</a:t>
            </a:r>
            <a:r>
              <a:rPr lang="zh-CN" alt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费米面</a:t>
            </a:r>
            <a:endParaRPr lang="zh-CN" altLang="en-US"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6"/>
            </p:custDataLst>
          </p:nvPr>
        </p:nvSpPr>
        <p:spPr>
          <a:xfrm>
            <a:off x="1285875" y="405955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949" t="-12593" r="-2949" b="-12593"/>
          <a:stretch>
            <a:fillRect/>
          </a:stretch>
        </p:blipFill>
        <p:spPr>
          <a:xfrm>
            <a:off x="1383030" y="4178300"/>
            <a:ext cx="262255" cy="2146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0"/>
            </p:custDataLst>
          </p:nvPr>
        </p:nvSpPr>
        <p:spPr>
          <a:xfrm>
            <a:off x="1285875" y="4631055"/>
            <a:ext cx="32194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介绍</a:t>
            </a:r>
            <a:endParaRPr lang="zh-CN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1"/>
            </p:custDataLst>
          </p:nvPr>
        </p:nvSpPr>
        <p:spPr>
          <a:xfrm>
            <a:off x="1285875" y="58312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2"/>
            </p:custDataLst>
          </p:nvPr>
        </p:nvSpPr>
        <p:spPr>
          <a:xfrm>
            <a:off x="1419225" y="5764530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zh-CN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fft</a:t>
            </a:r>
            <a:r>
              <a:rPr lang="zh-CN" alt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zh-CN" alt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endParaRPr lang="zh-CN" altLang="en-US"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3"/>
            </p:custDataLst>
          </p:nvPr>
        </p:nvSpPr>
        <p:spPr>
          <a:xfrm>
            <a:off x="1285875" y="60979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4"/>
            </p:custDataLst>
          </p:nvPr>
        </p:nvSpPr>
        <p:spPr>
          <a:xfrm>
            <a:off x="1419225" y="6031230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非线性最小</a:t>
            </a:r>
            <a:r>
              <a:rPr lang="zh-CN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二乘拟合</a:t>
            </a:r>
            <a:endParaRPr lang="zh-CN"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5"/>
            </p:custDataLst>
          </p:nvPr>
        </p:nvSpPr>
        <p:spPr>
          <a:xfrm>
            <a:off x="6323330" y="405955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949" t="-12593" r="-2949" b="-12593"/>
          <a:stretch>
            <a:fillRect/>
          </a:stretch>
        </p:blipFill>
        <p:spPr>
          <a:xfrm>
            <a:off x="6420485" y="4178300"/>
            <a:ext cx="262255" cy="21463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49"/>
            </p:custDataLst>
          </p:nvPr>
        </p:nvSpPr>
        <p:spPr>
          <a:xfrm>
            <a:off x="6315075" y="4631055"/>
            <a:ext cx="32194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数值模拟与对比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0"/>
            </p:custDataLst>
          </p:nvPr>
        </p:nvSpPr>
        <p:spPr>
          <a:xfrm>
            <a:off x="6189980" y="58312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1"/>
            </p:custDataLst>
          </p:nvPr>
        </p:nvSpPr>
        <p:spPr>
          <a:xfrm>
            <a:off x="6323330" y="5764530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SdH</a:t>
            </a:r>
            <a:r>
              <a:rPr lang="zh-CN" altLang="en-US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振荡</a:t>
            </a:r>
            <a:r>
              <a:rPr lang="zh-CN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</a:t>
            </a:r>
            <a:endParaRPr lang="zh-CN"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2"/>
            </p:custDataLst>
          </p:nvPr>
        </p:nvSpPr>
        <p:spPr>
          <a:xfrm>
            <a:off x="6189980" y="60979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3"/>
            </p:custDataLst>
          </p:nvPr>
        </p:nvSpPr>
        <p:spPr>
          <a:xfrm>
            <a:off x="6323330" y="6031230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理论验证</a:t>
            </a:r>
            <a:endParaRPr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4"/>
            </p:custDataLst>
          </p:nvPr>
        </p:nvSpPr>
        <p:spPr>
          <a:xfrm>
            <a:off x="1537970" y="2921635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zh-CN" sz="14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sz="14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5"/>
            </p:custDataLst>
          </p:nvPr>
        </p:nvSpPr>
        <p:spPr>
          <a:xfrm>
            <a:off x="1285875" y="29883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  <a:endParaRPr sz="3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59048" y="1162050"/>
            <a:ext cx="4644524" cy="5238750"/>
            <a:chOff x="720" y="1830"/>
            <a:chExt cx="5700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" name="任意多边形 2"/>
            <p:cNvSpPr/>
            <p:nvPr>
              <p:custDataLst>
                <p:tags r:id="rId2"/>
              </p:custDataLst>
            </p:nvPr>
          </p:nvSpPr>
          <p:spPr>
            <a:xfrm>
              <a:off x="720" y="1830"/>
              <a:ext cx="5700" cy="8250"/>
            </a:xfrm>
            <a:custGeom>
              <a:avLst/>
              <a:gdLst>
                <a:gd name="sw" fmla="*/ 1 w 5700"/>
                <a:gd name="sh" fmla="*/ 1 h 8250"/>
                <a:gd name="mins" fmla="min sw sh"/>
                <a:gd name="dsw" fmla="+- 0 sw mins"/>
                <a:gd name="dsh" fmla="+- 0 sh mins"/>
                <a:gd name="p0x0" fmla="*/ 240 w 5700"/>
                <a:gd name="p0y0" fmla="*/ 0 h 8250"/>
                <a:gd name="p0x1" fmla="*/ 5460 w 5700"/>
                <a:gd name="p0y1" fmla="*/ 0 h 8250"/>
                <a:gd name="p0x2" fmla="*/ 5592 w 5700"/>
                <a:gd name="p0y2" fmla="*/ 0 h 8250"/>
                <a:gd name="p0x3" fmla="*/ 5700 w 5700"/>
                <a:gd name="p0y3" fmla="*/ 107 h 8250"/>
                <a:gd name="p0x4" fmla="*/ 5700 w 5700"/>
                <a:gd name="p0y4" fmla="*/ 240 h 8250"/>
                <a:gd name="p0x5" fmla="*/ 5700 w 5700"/>
                <a:gd name="p0y5" fmla="*/ 8010 h 8250"/>
                <a:gd name="p0x6" fmla="*/ 5700 w 5700"/>
                <a:gd name="p0y6" fmla="*/ 8142 h 8250"/>
                <a:gd name="p0x7" fmla="*/ 5592 w 5700"/>
                <a:gd name="p0y7" fmla="*/ 8250 h 8250"/>
                <a:gd name="p0x8" fmla="*/ 5460 w 5700"/>
                <a:gd name="p0y8" fmla="*/ 8250 h 8250"/>
                <a:gd name="p0x9" fmla="*/ 240 w 5700"/>
                <a:gd name="p0y9" fmla="*/ 8250 h 8250"/>
                <a:gd name="p0x10" fmla="*/ 107 w 5700"/>
                <a:gd name="p0y10" fmla="*/ 8250 h 8250"/>
                <a:gd name="p0x11" fmla="*/ 0 w 5700"/>
                <a:gd name="p0y11" fmla="*/ 8142 h 8250"/>
                <a:gd name="p0x12" fmla="*/ 0 w 5700"/>
                <a:gd name="p0y12" fmla="*/ 8010 h 8250"/>
                <a:gd name="p0x13" fmla="*/ 0 w 5700"/>
                <a:gd name="p0y13" fmla="*/ 240 h 8250"/>
                <a:gd name="p0x14" fmla="*/ 0 w 5700"/>
                <a:gd name="p0y14" fmla="*/ 107 h 8250"/>
                <a:gd name="p0x15" fmla="*/ 107 w 5700"/>
                <a:gd name="p0y15" fmla="*/ 0 h 8250"/>
                <a:gd name="p0x16" fmla="*/ 240 w 5700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5700" cy="240"/>
            </a:xfrm>
            <a:custGeom>
              <a:avLst/>
              <a:gdLst>
                <a:gd name="sw" fmla="*/ 1 w 5700"/>
                <a:gd name="sh" fmla="*/ 1 h 240"/>
                <a:gd name="mins" fmla="min sw sh"/>
                <a:gd name="dsw" fmla="+- 0 sw mins"/>
                <a:gd name="dsh" fmla="+- 0 sh mins"/>
                <a:gd name="p0x0" fmla="*/ 240 w 5700"/>
                <a:gd name="p0y0" fmla="*/ 0 h 240"/>
                <a:gd name="p0x1" fmla="*/ 5460 w 5700"/>
                <a:gd name="p0y1" fmla="*/ 0 h 240"/>
                <a:gd name="p0x2" fmla="*/ 5592 w 5700"/>
                <a:gd name="p0y2" fmla="*/ 0 h 240"/>
                <a:gd name="p0x3" fmla="*/ 5700 w 5700"/>
                <a:gd name="p0y3" fmla="*/ 107 h 240"/>
                <a:gd name="p0x4" fmla="*/ 5700 w 5700"/>
                <a:gd name="p0y4" fmla="*/ 240 h 240"/>
                <a:gd name="p0x5" fmla="*/ 5700 w 5700"/>
                <a:gd name="p0y5" fmla="*/ 173 h 240"/>
                <a:gd name="p0x6" fmla="*/ 5592 w 5700"/>
                <a:gd name="p0y6" fmla="*/ 120 h 240"/>
                <a:gd name="p0x7" fmla="*/ 5460 w 5700"/>
                <a:gd name="p0y7" fmla="*/ 120 h 240"/>
                <a:gd name="p0x8" fmla="*/ 240 w 5700"/>
                <a:gd name="p0y8" fmla="*/ 120 h 240"/>
                <a:gd name="p0x9" fmla="*/ 107 w 5700"/>
                <a:gd name="p0y9" fmla="*/ 120 h 240"/>
                <a:gd name="p0x10" fmla="*/ 0 w 5700"/>
                <a:gd name="p0y10" fmla="*/ 173 h 240"/>
                <a:gd name="p0x11" fmla="*/ 0 w 5700"/>
                <a:gd name="p0y11" fmla="*/ 240 h 240"/>
                <a:gd name="p0x12" fmla="*/ 0 w 5700"/>
                <a:gd name="p0y12" fmla="*/ 107 h 240"/>
                <a:gd name="p0x13" fmla="*/ 107 w 5700"/>
                <a:gd name="p0y13" fmla="*/ 0 h 240"/>
                <a:gd name="p0x14" fmla="*/ 240 w 570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039364" y="1162026"/>
            <a:ext cx="3340525" cy="2523490"/>
            <a:chOff x="6720" y="1830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6720" y="1830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>
              <a:off x="6720" y="1830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4286" b="-4286"/>
          <a:stretch>
            <a:fillRect/>
          </a:stretch>
        </p:blipFill>
        <p:spPr>
          <a:xfrm>
            <a:off x="5318071" y="1381139"/>
            <a:ext cx="342900" cy="36195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5318071" y="1843055"/>
            <a:ext cx="3124200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alt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SdH</a:t>
            </a: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振荡本质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5318125" y="2283460"/>
            <a:ext cx="3124200" cy="1268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电阻率随1/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周期性振荡的宏观量子现象，源于电子在磁场中形成朗道能级，导致费米面附近态密度周期性变化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3061" b="-3061"/>
          <a:stretch>
            <a:fillRect/>
          </a:stretch>
        </p:blipFill>
        <p:spPr>
          <a:xfrm rot="20700000">
            <a:off x="7576998" y="2859035"/>
            <a:ext cx="952500" cy="99060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8604579" y="1162050"/>
            <a:ext cx="3250056" cy="2523490"/>
            <a:chOff x="12750" y="1830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21" name="任意多边形 20"/>
            <p:cNvSpPr/>
            <p:nvPr>
              <p:custDataLst>
                <p:tags r:id="rId14"/>
              </p:custDataLst>
            </p:nvPr>
          </p:nvSpPr>
          <p:spPr>
            <a:xfrm>
              <a:off x="12750" y="1830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15"/>
              </p:custDataLst>
            </p:nvPr>
          </p:nvSpPr>
          <p:spPr>
            <a:xfrm>
              <a:off x="12750" y="1830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4" name="图片 2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1429" t="-2778" r="-1429" b="-2778"/>
          <a:stretch>
            <a:fillRect/>
          </a:stretch>
        </p:blipFill>
        <p:spPr>
          <a:xfrm>
            <a:off x="8778376" y="1381125"/>
            <a:ext cx="342900" cy="36195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9"/>
            </p:custDataLst>
          </p:nvPr>
        </p:nvSpPr>
        <p:spPr>
          <a:xfrm>
            <a:off x="8778376" y="1843088"/>
            <a:ext cx="3124200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振荡的</a:t>
            </a: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普适性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0"/>
            </p:custDataLst>
          </p:nvPr>
        </p:nvSpPr>
        <p:spPr>
          <a:xfrm>
            <a:off x="8778240" y="2283460"/>
            <a:ext cx="3124200" cy="10744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金属在磁场中不止电阻率，磁化率，比热容等物理量也有振荡的现象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2000" b="-2000"/>
          <a:stretch>
            <a:fillRect/>
          </a:stretch>
        </p:blipFill>
        <p:spPr>
          <a:xfrm rot="20700000">
            <a:off x="11230905" y="2840599"/>
            <a:ext cx="952500" cy="990600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5027980" y="3876675"/>
            <a:ext cx="3351956" cy="2523490"/>
            <a:chOff x="6720" y="6105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0" name="任意多边形 29"/>
            <p:cNvSpPr/>
            <p:nvPr>
              <p:custDataLst>
                <p:tags r:id="rId24"/>
              </p:custDataLst>
            </p:nvPr>
          </p:nvSpPr>
          <p:spPr>
            <a:xfrm>
              <a:off x="6720" y="6105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5"/>
              </p:custDataLst>
            </p:nvPr>
          </p:nvSpPr>
          <p:spPr>
            <a:xfrm>
              <a:off x="6720" y="6105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6204" t="-2778" r="-6204" b="-2778"/>
          <a:stretch>
            <a:fillRect/>
          </a:stretch>
        </p:blipFill>
        <p:spPr>
          <a:xfrm>
            <a:off x="5318047" y="4095750"/>
            <a:ext cx="385445" cy="36195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5318047" y="4557713"/>
            <a:ext cx="3124200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费米面探测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5318125" y="4998085"/>
            <a:ext cx="3124200" cy="10299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通过振荡周期反推费米面截面积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505" t="-2000" r="-505" b="-2000"/>
          <a:stretch>
            <a:fillRect/>
          </a:stretch>
        </p:blipFill>
        <p:spPr>
          <a:xfrm rot="20700000">
            <a:off x="7770577" y="5564442"/>
            <a:ext cx="952500" cy="990600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8604579" y="3876675"/>
            <a:ext cx="3298030" cy="2523490"/>
            <a:chOff x="12750" y="6105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9" name="任意多边形 38"/>
            <p:cNvSpPr/>
            <p:nvPr>
              <p:custDataLst>
                <p:tags r:id="rId34"/>
              </p:custDataLst>
            </p:nvPr>
          </p:nvSpPr>
          <p:spPr>
            <a:xfrm>
              <a:off x="12750" y="6105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5"/>
              </p:custDataLst>
            </p:nvPr>
          </p:nvSpPr>
          <p:spPr>
            <a:xfrm>
              <a:off x="12750" y="6105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2" name="图片 41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2778" b="-2778"/>
          <a:stretch>
            <a:fillRect/>
          </a:stretch>
        </p:blipFill>
        <p:spPr>
          <a:xfrm>
            <a:off x="8778376" y="4095750"/>
            <a:ext cx="342900" cy="36195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39"/>
            </p:custDataLst>
          </p:nvPr>
        </p:nvSpPr>
        <p:spPr>
          <a:xfrm>
            <a:off x="8778376" y="4557713"/>
            <a:ext cx="3124200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有效质量测量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8778240" y="4998085"/>
            <a:ext cx="3124200" cy="1141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分析振荡振幅与温度的依赖关系，提取电子有效质量参数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t="-2000" b="-2000"/>
          <a:stretch>
            <a:fillRect/>
          </a:stretch>
        </p:blipFill>
        <p:spPr>
          <a:xfrm rot="20700000">
            <a:off x="11240123" y="5619750"/>
            <a:ext cx="952500" cy="9906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44"/>
            </p:custDataLst>
          </p:nvPr>
        </p:nvSpPr>
        <p:spPr>
          <a:xfrm>
            <a:off x="49530" y="4901565"/>
            <a:ext cx="4828540" cy="924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1.HoBi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SdH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振荡现象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NOWAKOWSKA P, PAVLOSIUK O, WI</a:t>
            </a:r>
            <a:r>
              <a:rPr lang="en-US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Ś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NIEWSKI P, et al. Scientific Reports, 2023, 13(1):22776.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1920" y="1495425"/>
            <a:ext cx="4725035" cy="32950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5395913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Lifshitz-Kosevich (LK) </a:t>
            </a:r>
            <a:r>
              <a:rPr lang="zh-CN" sz="3000" b="1" spc="-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endParaRPr lang="zh-CN" sz="3000" b="1" spc="-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082030" y="1206500"/>
            <a:ext cx="6033770" cy="5386070"/>
            <a:chOff x="720" y="1830"/>
            <a:chExt cx="5700" cy="8250"/>
          </a:xfrm>
          <a:effectLst>
            <a:outerShdw blurRad="214313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17" name="任意多边形 16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5700" cy="8250"/>
            </a:xfrm>
            <a:custGeom>
              <a:avLst/>
              <a:gdLst>
                <a:gd name="sw" fmla="*/ 1 w 5700"/>
                <a:gd name="sh" fmla="*/ 1 h 8250"/>
                <a:gd name="mins" fmla="min sw sh"/>
                <a:gd name="dsw" fmla="+- 0 sw mins"/>
                <a:gd name="dsh" fmla="+- 0 sh mins"/>
                <a:gd name="p0x0" fmla="*/ 180 w 5700"/>
                <a:gd name="p0y0" fmla="*/ 0 h 8250"/>
                <a:gd name="p0x1" fmla="*/ 5520 w 5700"/>
                <a:gd name="p0y1" fmla="*/ 0 h 8250"/>
                <a:gd name="p0x2" fmla="*/ 5619 w 5700"/>
                <a:gd name="p0y2" fmla="*/ 0 h 8250"/>
                <a:gd name="p0x3" fmla="*/ 5700 w 5700"/>
                <a:gd name="p0y3" fmla="*/ 80 h 8250"/>
                <a:gd name="p0x4" fmla="*/ 5700 w 5700"/>
                <a:gd name="p0y4" fmla="*/ 180 h 8250"/>
                <a:gd name="p0x5" fmla="*/ 5700 w 5700"/>
                <a:gd name="p0y5" fmla="*/ 8070 h 8250"/>
                <a:gd name="p0x6" fmla="*/ 5700 w 5700"/>
                <a:gd name="p0y6" fmla="*/ 8169 h 8250"/>
                <a:gd name="p0x7" fmla="*/ 5619 w 5700"/>
                <a:gd name="p0y7" fmla="*/ 8250 h 8250"/>
                <a:gd name="p0x8" fmla="*/ 5520 w 5700"/>
                <a:gd name="p0y8" fmla="*/ 8250 h 8250"/>
                <a:gd name="p0x9" fmla="*/ 180 w 5700"/>
                <a:gd name="p0y9" fmla="*/ 8250 h 8250"/>
                <a:gd name="p0x10" fmla="*/ 80 w 5700"/>
                <a:gd name="p0y10" fmla="*/ 8250 h 8250"/>
                <a:gd name="p0x11" fmla="*/ 0 w 5700"/>
                <a:gd name="p0y11" fmla="*/ 8169 h 8250"/>
                <a:gd name="p0x12" fmla="*/ 0 w 5700"/>
                <a:gd name="p0y12" fmla="*/ 8070 h 8250"/>
                <a:gd name="p0x13" fmla="*/ 0 w 5700"/>
                <a:gd name="p0y13" fmla="*/ 180 h 8250"/>
                <a:gd name="p0x14" fmla="*/ 0 w 5700"/>
                <a:gd name="p0y14" fmla="*/ 80 h 8250"/>
                <a:gd name="p0x15" fmla="*/ 80 w 5700"/>
                <a:gd name="p0y15" fmla="*/ 0 h 8250"/>
                <a:gd name="p0x16" fmla="*/ 180 w 5700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180" cy="8250"/>
            </a:xfrm>
            <a:custGeom>
              <a:avLst/>
              <a:gdLst>
                <a:gd name="sw" fmla="*/ 1 w 180"/>
                <a:gd name="sh" fmla="*/ 1 h 8250"/>
                <a:gd name="mins" fmla="min sw sh"/>
                <a:gd name="dsw" fmla="+- 0 sw mins"/>
                <a:gd name="dsh" fmla="+- 0 sh mins"/>
                <a:gd name="p0x0" fmla="*/ 0 w 180"/>
                <a:gd name="p0y0" fmla="*/ 8070 h 8250"/>
                <a:gd name="p0x1" fmla="*/ 0 w 180"/>
                <a:gd name="p0y1" fmla="*/ 180 h 8250"/>
                <a:gd name="p0x2" fmla="*/ 0 w 180"/>
                <a:gd name="p0y2" fmla="*/ 80 h 8250"/>
                <a:gd name="p0x3" fmla="*/ 80 w 180"/>
                <a:gd name="p0y3" fmla="*/ 0 h 8250"/>
                <a:gd name="p0x4" fmla="*/ 180 w 180"/>
                <a:gd name="p0y4" fmla="*/ 0 h 8250"/>
                <a:gd name="p0x5" fmla="*/ 122 w 180"/>
                <a:gd name="p0y5" fmla="*/ 0 h 8250"/>
                <a:gd name="p0x6" fmla="*/ 75 w 180"/>
                <a:gd name="p0y6" fmla="*/ 80 h 8250"/>
                <a:gd name="p0x7" fmla="*/ 75 w 180"/>
                <a:gd name="p0y7" fmla="*/ 180 h 8250"/>
                <a:gd name="p0x8" fmla="*/ 75 w 180"/>
                <a:gd name="p0y8" fmla="*/ 8070 h 8250"/>
                <a:gd name="p0x9" fmla="*/ 75 w 180"/>
                <a:gd name="p0y9" fmla="*/ 8169 h 8250"/>
                <a:gd name="p0x10" fmla="*/ 122 w 180"/>
                <a:gd name="p0y10" fmla="*/ 8250 h 8250"/>
                <a:gd name="p0x11" fmla="*/ 180 w 180"/>
                <a:gd name="p0y11" fmla="*/ 8250 h 8250"/>
                <a:gd name="p0x12" fmla="*/ 80 w 180"/>
                <a:gd name="p0y12" fmla="*/ 8250 h 8250"/>
                <a:gd name="p0x13" fmla="*/ 0 w 180"/>
                <a:gd name="p0y13" fmla="*/ 8169 h 8250"/>
                <a:gd name="p0x14" fmla="*/ 0 w 180"/>
                <a:gd name="p0y14" fmla="*/ 807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任意多边形 18"/>
          <p:cNvSpPr/>
          <p:nvPr>
            <p:custDataLst>
              <p:tags r:id="rId5"/>
            </p:custDataLst>
          </p:nvPr>
        </p:nvSpPr>
        <p:spPr>
          <a:xfrm>
            <a:off x="6609080" y="1363980"/>
            <a:ext cx="4723130" cy="1468755"/>
          </a:xfrm>
          <a:custGeom>
            <a:avLst/>
            <a:gdLst>
              <a:gd name="sw" fmla="*/ 1 w 4890"/>
              <a:gd name="sh" fmla="*/ 1 h 2842"/>
              <a:gd name="mins" fmla="min sw sh"/>
              <a:gd name="dsw" fmla="+- 0 sw mins"/>
              <a:gd name="dsh" fmla="+- 0 sh mins"/>
              <a:gd name="p0x0" fmla="*/ 120 w 4890"/>
              <a:gd name="p0y0" fmla="*/ 0 h 2842"/>
              <a:gd name="p0x1" fmla="*/ 4770 w 4890"/>
              <a:gd name="p0y1" fmla="*/ 0 h 2842"/>
              <a:gd name="p0x2" fmla="*/ 4836 w 4890"/>
              <a:gd name="p0y2" fmla="*/ 0 h 2842"/>
              <a:gd name="p0x3" fmla="*/ 4890 w 4890"/>
              <a:gd name="p0y3" fmla="*/ 53 h 2842"/>
              <a:gd name="p0x4" fmla="*/ 4890 w 4890"/>
              <a:gd name="p0y4" fmla="*/ 120 h 2842"/>
              <a:gd name="p0x5" fmla="*/ 4890 w 4890"/>
              <a:gd name="p0y5" fmla="*/ 2722 h 2842"/>
              <a:gd name="p0x6" fmla="*/ 4890 w 4890"/>
              <a:gd name="p0y6" fmla="*/ 2789 h 2842"/>
              <a:gd name="p0x7" fmla="*/ 4836 w 4890"/>
              <a:gd name="p0y7" fmla="*/ 2842 h 2842"/>
              <a:gd name="p0x8" fmla="*/ 4770 w 4890"/>
              <a:gd name="p0y8" fmla="*/ 2842 h 2842"/>
              <a:gd name="p0x9" fmla="*/ 120 w 4890"/>
              <a:gd name="p0y9" fmla="*/ 2842 h 2842"/>
              <a:gd name="p0x10" fmla="*/ 53 w 4890"/>
              <a:gd name="p0y10" fmla="*/ 2842 h 2842"/>
              <a:gd name="p0x11" fmla="*/ 0 w 4890"/>
              <a:gd name="p0y11" fmla="*/ 2789 h 2842"/>
              <a:gd name="p0x12" fmla="*/ 0 w 4890"/>
              <a:gd name="p0y12" fmla="*/ 2722 h 2842"/>
              <a:gd name="p0x13" fmla="*/ 0 w 4890"/>
              <a:gd name="p0y13" fmla="*/ 120 h 2842"/>
              <a:gd name="p0x14" fmla="*/ 0 w 4890"/>
              <a:gd name="p0y14" fmla="*/ 53 h 2842"/>
              <a:gd name="p0x15" fmla="*/ 53 w 4890"/>
              <a:gd name="p0y15" fmla="*/ 0 h 2842"/>
              <a:gd name="p0x16" fmla="*/ 120 w 4890"/>
              <a:gd name="p0y16" fmla="*/ 0 h 284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760" y="2004060"/>
            <a:ext cx="3688715" cy="6718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753860" y="1513840"/>
            <a:ext cx="2790825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电阻振荡的</a:t>
            </a:r>
            <a:r>
              <a:rPr lang="zh-CN" altLang="en-US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endParaRPr lang="zh-CN" altLang="en-US" b="1">
              <a:solidFill>
                <a:srgbClr val="0369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8"/>
            </p:custDataLst>
          </p:nvPr>
        </p:nvSpPr>
        <p:spPr>
          <a:xfrm>
            <a:off x="6609080" y="3108325"/>
            <a:ext cx="4723130" cy="1468755"/>
          </a:xfrm>
          <a:custGeom>
            <a:avLst/>
            <a:gdLst>
              <a:gd name="sw" fmla="*/ 1 w 4890"/>
              <a:gd name="sh" fmla="*/ 1 h 2842"/>
              <a:gd name="mins" fmla="min sw sh"/>
              <a:gd name="dsw" fmla="+- 0 sw mins"/>
              <a:gd name="dsh" fmla="+- 0 sh mins"/>
              <a:gd name="p0x0" fmla="*/ 120 w 4890"/>
              <a:gd name="p0y0" fmla="*/ 0 h 2842"/>
              <a:gd name="p0x1" fmla="*/ 4770 w 4890"/>
              <a:gd name="p0y1" fmla="*/ 0 h 2842"/>
              <a:gd name="p0x2" fmla="*/ 4836 w 4890"/>
              <a:gd name="p0y2" fmla="*/ 0 h 2842"/>
              <a:gd name="p0x3" fmla="*/ 4890 w 4890"/>
              <a:gd name="p0y3" fmla="*/ 53 h 2842"/>
              <a:gd name="p0x4" fmla="*/ 4890 w 4890"/>
              <a:gd name="p0y4" fmla="*/ 120 h 2842"/>
              <a:gd name="p0x5" fmla="*/ 4890 w 4890"/>
              <a:gd name="p0y5" fmla="*/ 2722 h 2842"/>
              <a:gd name="p0x6" fmla="*/ 4890 w 4890"/>
              <a:gd name="p0y6" fmla="*/ 2789 h 2842"/>
              <a:gd name="p0x7" fmla="*/ 4836 w 4890"/>
              <a:gd name="p0y7" fmla="*/ 2842 h 2842"/>
              <a:gd name="p0x8" fmla="*/ 4770 w 4890"/>
              <a:gd name="p0y8" fmla="*/ 2842 h 2842"/>
              <a:gd name="p0x9" fmla="*/ 120 w 4890"/>
              <a:gd name="p0y9" fmla="*/ 2842 h 2842"/>
              <a:gd name="p0x10" fmla="*/ 53 w 4890"/>
              <a:gd name="p0y10" fmla="*/ 2842 h 2842"/>
              <a:gd name="p0x11" fmla="*/ 0 w 4890"/>
              <a:gd name="p0y11" fmla="*/ 2789 h 2842"/>
              <a:gd name="p0x12" fmla="*/ 0 w 4890"/>
              <a:gd name="p0y12" fmla="*/ 2722 h 2842"/>
              <a:gd name="p0x13" fmla="*/ 0 w 4890"/>
              <a:gd name="p0y13" fmla="*/ 120 h 2842"/>
              <a:gd name="p0x14" fmla="*/ 0 w 4890"/>
              <a:gd name="p0y14" fmla="*/ 53 h 2842"/>
              <a:gd name="p0x15" fmla="*/ 53 w 4890"/>
              <a:gd name="p0y15" fmla="*/ 0 h 2842"/>
              <a:gd name="p0x16" fmla="*/ 120 w 4890"/>
              <a:gd name="p0y16" fmla="*/ 0 h 284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6753860" y="3312160"/>
            <a:ext cx="2790825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zh-CN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b="1" baseline="-25000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endParaRPr lang="zh-CN" altLang="en-US" b="1">
              <a:solidFill>
                <a:srgbClr val="0369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0"/>
            </p:custDataLst>
          </p:nvPr>
        </p:nvSpPr>
        <p:spPr>
          <a:xfrm>
            <a:off x="6609080" y="4853305"/>
            <a:ext cx="4723130" cy="1468755"/>
          </a:xfrm>
          <a:custGeom>
            <a:avLst/>
            <a:gdLst>
              <a:gd name="sw" fmla="*/ 1 w 4890"/>
              <a:gd name="sh" fmla="*/ 1 h 2842"/>
              <a:gd name="mins" fmla="min sw sh"/>
              <a:gd name="dsw" fmla="+- 0 sw mins"/>
              <a:gd name="dsh" fmla="+- 0 sh mins"/>
              <a:gd name="p0x0" fmla="*/ 120 w 4890"/>
              <a:gd name="p0y0" fmla="*/ 0 h 2842"/>
              <a:gd name="p0x1" fmla="*/ 4770 w 4890"/>
              <a:gd name="p0y1" fmla="*/ 0 h 2842"/>
              <a:gd name="p0x2" fmla="*/ 4836 w 4890"/>
              <a:gd name="p0y2" fmla="*/ 0 h 2842"/>
              <a:gd name="p0x3" fmla="*/ 4890 w 4890"/>
              <a:gd name="p0y3" fmla="*/ 53 h 2842"/>
              <a:gd name="p0x4" fmla="*/ 4890 w 4890"/>
              <a:gd name="p0y4" fmla="*/ 120 h 2842"/>
              <a:gd name="p0x5" fmla="*/ 4890 w 4890"/>
              <a:gd name="p0y5" fmla="*/ 2722 h 2842"/>
              <a:gd name="p0x6" fmla="*/ 4890 w 4890"/>
              <a:gd name="p0y6" fmla="*/ 2789 h 2842"/>
              <a:gd name="p0x7" fmla="*/ 4836 w 4890"/>
              <a:gd name="p0y7" fmla="*/ 2842 h 2842"/>
              <a:gd name="p0x8" fmla="*/ 4770 w 4890"/>
              <a:gd name="p0y8" fmla="*/ 2842 h 2842"/>
              <a:gd name="p0x9" fmla="*/ 120 w 4890"/>
              <a:gd name="p0y9" fmla="*/ 2842 h 2842"/>
              <a:gd name="p0x10" fmla="*/ 53 w 4890"/>
              <a:gd name="p0y10" fmla="*/ 2842 h 2842"/>
              <a:gd name="p0x11" fmla="*/ 0 w 4890"/>
              <a:gd name="p0y11" fmla="*/ 2789 h 2842"/>
              <a:gd name="p0x12" fmla="*/ 0 w 4890"/>
              <a:gd name="p0y12" fmla="*/ 2722 h 2842"/>
              <a:gd name="p0x13" fmla="*/ 0 w 4890"/>
              <a:gd name="p0y13" fmla="*/ 120 h 2842"/>
              <a:gd name="p0x14" fmla="*/ 0 w 4890"/>
              <a:gd name="p0y14" fmla="*/ 53 h 2842"/>
              <a:gd name="p0x15" fmla="*/ 53 w 4890"/>
              <a:gd name="p0y15" fmla="*/ 0 h 2842"/>
              <a:gd name="p0x16" fmla="*/ 120 w 4890"/>
              <a:gd name="p0y16" fmla="*/ 0 h 284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6753860" y="5110480"/>
            <a:ext cx="2790825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zh-CN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b="1" baseline="-25000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endParaRPr lang="zh-CN" altLang="en-US" b="1">
              <a:solidFill>
                <a:srgbClr val="0369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5675" y="3729990"/>
            <a:ext cx="2762250" cy="73787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4640" y="5477510"/>
            <a:ext cx="1762125" cy="760095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100965" y="1162050"/>
            <a:ext cx="5861050" cy="5399405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77850" y="6561455"/>
            <a:ext cx="41922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单一频率下的理论振荡图像（归一化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25908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数据处理</a:t>
            </a: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</a:t>
            </a:r>
            <a:endParaRPr lang="zh-CN" sz="3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61645" y="1166495"/>
            <a:ext cx="5534025" cy="502983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blipFill rotWithShape="1">
            <a:blip r:embed="rId3"/>
            <a:stretch>
              <a:fillRect t="10290" b="10290"/>
            </a:stretch>
          </a:blip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0F172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695325" y="14001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0714" b="-10714"/>
          <a:stretch>
            <a:fillRect/>
          </a:stretch>
        </p:blipFill>
        <p:spPr>
          <a:xfrm>
            <a:off x="752475" y="1471295"/>
            <a:ext cx="190500" cy="16192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076325" y="1428750"/>
            <a:ext cx="468630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</a:t>
            </a:r>
            <a:r>
              <a:rPr lang="en-US" altLang="zh-CN" b="1" baseline="-25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b="1" baseline="-25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695325" y="5733415"/>
            <a:ext cx="133350" cy="1384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885825" y="5695950"/>
            <a:ext cx="4996180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.Ta</a:t>
            </a:r>
            <a:r>
              <a:rPr lang="en-US" altLang="zh-CN" sz="12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sz="12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CHEN D, ZHAO L, HE J, et al. Physical Review B, 2016, 94(17):174411.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13"/>
            </p:custDataLst>
          </p:nvPr>
        </p:nvSpPr>
        <p:spPr>
          <a:xfrm>
            <a:off x="6139180" y="1166495"/>
            <a:ext cx="5534025" cy="499427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blipFill rotWithShape="1">
            <a:blip r:embed="rId14"/>
            <a:stretch>
              <a:fillRect t="10290" b="10290"/>
            </a:stretch>
          </a:blip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0F172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6753860" y="1428750"/>
            <a:ext cx="468630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FFT</a:t>
            </a:r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频谱分布特征</a:t>
            </a:r>
            <a:endParaRPr lang="zh-CN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6199505" y="5733415"/>
            <a:ext cx="133350" cy="1384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6391910" y="5695950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.FFT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0"/>
            </p:custDataLst>
          </p:nvPr>
        </p:nvSpPr>
        <p:spPr>
          <a:xfrm>
            <a:off x="6275705" y="14001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0714" b="-10714"/>
          <a:stretch>
            <a:fillRect/>
          </a:stretch>
        </p:blipFill>
        <p:spPr>
          <a:xfrm>
            <a:off x="6332855" y="1471295"/>
            <a:ext cx="190500" cy="1619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25908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FFT</a:t>
            </a: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</a:t>
            </a: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介绍</a:t>
            </a:r>
            <a:endParaRPr lang="zh-CN" sz="3000" b="1" spc="-67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36525" y="1202690"/>
            <a:ext cx="3752850" cy="579183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blipFill rotWithShape="1">
            <a:blip r:embed="rId3"/>
            <a:stretch>
              <a:fillRect t="10290" b="10290"/>
            </a:stretch>
          </a:blip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0F172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75260" y="135445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0714" b="-10714"/>
          <a:stretch>
            <a:fillRect/>
          </a:stretch>
        </p:blipFill>
        <p:spPr>
          <a:xfrm>
            <a:off x="232410" y="1425575"/>
            <a:ext cx="190500" cy="16192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568960" y="1385570"/>
            <a:ext cx="89027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9"/>
            </p:custDataLst>
          </p:nvPr>
        </p:nvSpPr>
        <p:spPr>
          <a:xfrm>
            <a:off x="4002405" y="480060"/>
            <a:ext cx="3834130" cy="691959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blipFill rotWithShape="1">
            <a:blip r:embed="rId10"/>
            <a:stretch>
              <a:fillRect t="10290" b="10290"/>
            </a:stretch>
          </a:blip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0F172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4676140" y="733425"/>
            <a:ext cx="1830705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12"/>
            </p:custDataLst>
          </p:nvPr>
        </p:nvSpPr>
        <p:spPr>
          <a:xfrm>
            <a:off x="4235450" y="69151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0714" b="-10714"/>
          <a:stretch>
            <a:fillRect/>
          </a:stretch>
        </p:blipFill>
        <p:spPr>
          <a:xfrm>
            <a:off x="4292600" y="762635"/>
            <a:ext cx="190500" cy="161925"/>
          </a:xfrm>
          <a:prstGeom prst="rect">
            <a:avLst/>
          </a:prstGeom>
        </p:spPr>
      </p:pic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7875905" y="480060"/>
            <a:ext cx="4136390" cy="6918960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blipFill rotWithShape="1">
            <a:blip r:embed="rId15"/>
            <a:stretch>
              <a:fillRect t="10290" b="10290"/>
            </a:stretch>
          </a:blip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0F172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8068310" y="70231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0714" b="-10714"/>
          <a:stretch>
            <a:fillRect/>
          </a:stretch>
        </p:blipFill>
        <p:spPr>
          <a:xfrm>
            <a:off x="8125460" y="773430"/>
            <a:ext cx="190500" cy="16192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8462010" y="733425"/>
            <a:ext cx="89027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画图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491744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费米面与有效质量</a:t>
            </a:r>
            <a:r>
              <a:rPr lang="zh-CN"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endParaRPr lang="zh-CN" sz="3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endParaRPr lang="zh-CN" sz="3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57200" y="1162050"/>
            <a:ext cx="3619500" cy="5238750"/>
          </a:xfrm>
          <a:custGeom>
            <a:avLst/>
            <a:gdLst>
              <a:gd name="sw" fmla="*/ 1 w 5700"/>
              <a:gd name="sh" fmla="*/ 1 h 8250"/>
              <a:gd name="mins" fmla="min sw sh"/>
              <a:gd name="dsw" fmla="+- 0 sw mins"/>
              <a:gd name="dsh" fmla="+- 0 sh mins"/>
              <a:gd name="p0x0" fmla="*/ 240 w 5700"/>
              <a:gd name="p0y0" fmla="*/ 0 h 8250"/>
              <a:gd name="p0x1" fmla="*/ 5460 w 5700"/>
              <a:gd name="p0y1" fmla="*/ 0 h 8250"/>
              <a:gd name="p0x2" fmla="*/ 5592 w 5700"/>
              <a:gd name="p0y2" fmla="*/ 0 h 8250"/>
              <a:gd name="p0x3" fmla="*/ 5700 w 5700"/>
              <a:gd name="p0y3" fmla="*/ 107 h 8250"/>
              <a:gd name="p0x4" fmla="*/ 5700 w 5700"/>
              <a:gd name="p0y4" fmla="*/ 240 h 8250"/>
              <a:gd name="p0x5" fmla="*/ 5700 w 5700"/>
              <a:gd name="p0y5" fmla="*/ 8010 h 8250"/>
              <a:gd name="p0x6" fmla="*/ 5700 w 5700"/>
              <a:gd name="p0y6" fmla="*/ 8142 h 8250"/>
              <a:gd name="p0x7" fmla="*/ 5592 w 5700"/>
              <a:gd name="p0y7" fmla="*/ 8250 h 8250"/>
              <a:gd name="p0x8" fmla="*/ 5460 w 5700"/>
              <a:gd name="p0y8" fmla="*/ 8250 h 8250"/>
              <a:gd name="p0x9" fmla="*/ 240 w 5700"/>
              <a:gd name="p0y9" fmla="*/ 8250 h 8250"/>
              <a:gd name="p0x10" fmla="*/ 107 w 5700"/>
              <a:gd name="p0y10" fmla="*/ 8250 h 8250"/>
              <a:gd name="p0x11" fmla="*/ 0 w 5700"/>
              <a:gd name="p0y11" fmla="*/ 8142 h 8250"/>
              <a:gd name="p0x12" fmla="*/ 0 w 5700"/>
              <a:gd name="p0y12" fmla="*/ 8010 h 8250"/>
              <a:gd name="p0x13" fmla="*/ 0 w 5700"/>
              <a:gd name="p0y13" fmla="*/ 240 h 8250"/>
              <a:gd name="p0x14" fmla="*/ 0 w 5700"/>
              <a:gd name="p0y14" fmla="*/ 107 h 8250"/>
              <a:gd name="p0x15" fmla="*/ 107 w 5700"/>
              <a:gd name="p0y15" fmla="*/ 0 h 8250"/>
              <a:gd name="p0x16" fmla="*/ 240 w 5700"/>
              <a:gd name="p0y16" fmla="*/ 0 h 82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0F172A"/>
              </a:gs>
              <a:gs pos="100000">
                <a:srgbClr val="334155"/>
              </a:gs>
            </a:gsLst>
            <a:lin ang="3300000"/>
          </a:gradFill>
          <a:ln>
            <a:noFill/>
          </a:ln>
          <a:effectLst>
            <a:outerShdw blurRad="428625" dist="95250" dir="5399999" algn="ctr" rotWithShape="0">
              <a:srgbClr val="0F172A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723900" y="1428750"/>
            <a:ext cx="3086100" cy="332740"/>
            <a:chOff x="1140" y="2250"/>
            <a:chExt cx="4860" cy="524"/>
          </a:xfrm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1140" y="2250"/>
              <a:ext cx="4860" cy="525"/>
            </a:xfrm>
            <a:custGeom>
              <a:avLst/>
              <a:gdLst>
                <a:gd name="sw" fmla="*/ 1 w 4860"/>
                <a:gd name="sh" fmla="*/ 1 h 525"/>
                <a:gd name="mins" fmla="min sw sh"/>
                <a:gd name="dsw" fmla="+- 0 sw mins"/>
                <a:gd name="dsh" fmla="+- 0 sh mins"/>
                <a:gd name="p0x0" fmla="*/ 0 w 4860"/>
                <a:gd name="p0y0" fmla="*/ 0 h 525"/>
                <a:gd name="p0x1" fmla="*/ 4860 w 4860"/>
                <a:gd name="p0y1" fmla="*/ 0 h 525"/>
                <a:gd name="p0x2" fmla="*/ 4860 w 4860"/>
                <a:gd name="p0y2" fmla="*/ 525 h 525"/>
                <a:gd name="p0x3" fmla="*/ 0 w 4860"/>
                <a:gd name="p0y3" fmla="*/ 525 h 525"/>
                <a:gd name="p0x4" fmla="*/ 0 w 4860"/>
                <a:gd name="p0y4" fmla="*/ 0 h 5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140" y="2250"/>
              <a:ext cx="75" cy="525"/>
            </a:xfrm>
            <a:custGeom>
              <a:avLst/>
              <a:gdLst>
                <a:gd name="sw" fmla="*/ 1 w 75"/>
                <a:gd name="sh" fmla="*/ 1 h 525"/>
                <a:gd name="mins" fmla="min sw sh"/>
                <a:gd name="dsw" fmla="+- 0 sw mins"/>
                <a:gd name="dsh" fmla="+- 0 sh mins"/>
                <a:gd name="p0x0" fmla="*/ 0 w 75"/>
                <a:gd name="p0y0" fmla="*/ 525 h 525"/>
                <a:gd name="p0x1" fmla="*/ 0 w 75"/>
                <a:gd name="p0y1" fmla="*/ 0 h 525"/>
                <a:gd name="p0x2" fmla="*/ 75 w 75"/>
                <a:gd name="p0y2" fmla="*/ 0 h 525"/>
                <a:gd name="p0x3" fmla="*/ 75 w 75"/>
                <a:gd name="p0y3" fmla="*/ 525 h 525"/>
                <a:gd name="p0x4" fmla="*/ 0 w 75"/>
                <a:gd name="p0y4" fmla="*/ 525 h 5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000125" y="1428750"/>
            <a:ext cx="2809875" cy="333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核心原理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23900" y="3276600"/>
            <a:ext cx="3086100" cy="2857500"/>
          </a:xfrm>
          <a:custGeom>
            <a:avLst/>
            <a:gdLst>
              <a:gd name="sw" fmla="*/ 1 w 4860"/>
              <a:gd name="sh" fmla="*/ 1 h 4500"/>
              <a:gd name="mins" fmla="min sw sh"/>
              <a:gd name="dsw" fmla="+- 0 sw mins"/>
              <a:gd name="dsh" fmla="+- 0 sh mins"/>
              <a:gd name="p0x0" fmla="*/ 180 w 4860"/>
              <a:gd name="p0y0" fmla="*/ 0 h 4500"/>
              <a:gd name="p0x1" fmla="*/ 4680 w 4860"/>
              <a:gd name="p0y1" fmla="*/ 0 h 4500"/>
              <a:gd name="p0x2" fmla="*/ 4779 w 4860"/>
              <a:gd name="p0y2" fmla="*/ 0 h 4500"/>
              <a:gd name="p0x3" fmla="*/ 4860 w 4860"/>
              <a:gd name="p0y3" fmla="*/ 80 h 4500"/>
              <a:gd name="p0x4" fmla="*/ 4860 w 4860"/>
              <a:gd name="p0y4" fmla="*/ 180 h 4500"/>
              <a:gd name="p0x5" fmla="*/ 4860 w 4860"/>
              <a:gd name="p0y5" fmla="*/ 4320 h 4500"/>
              <a:gd name="p0x6" fmla="*/ 4860 w 4860"/>
              <a:gd name="p0y6" fmla="*/ 4419 h 4500"/>
              <a:gd name="p0x7" fmla="*/ 4779 w 4860"/>
              <a:gd name="p0y7" fmla="*/ 4500 h 4500"/>
              <a:gd name="p0x8" fmla="*/ 4680 w 4860"/>
              <a:gd name="p0y8" fmla="*/ 4500 h 4500"/>
              <a:gd name="p0x9" fmla="*/ 180 w 4860"/>
              <a:gd name="p0y9" fmla="*/ 4500 h 4500"/>
              <a:gd name="p0x10" fmla="*/ 80 w 4860"/>
              <a:gd name="p0y10" fmla="*/ 4500 h 4500"/>
              <a:gd name="p0x11" fmla="*/ 0 w 4860"/>
              <a:gd name="p0y11" fmla="*/ 4419 h 4500"/>
              <a:gd name="p0x12" fmla="*/ 0 w 4860"/>
              <a:gd name="p0y12" fmla="*/ 4320 h 4500"/>
              <a:gd name="p0x13" fmla="*/ 0 w 4860"/>
              <a:gd name="p0y13" fmla="*/ 180 h 4500"/>
              <a:gd name="p0x14" fmla="*/ 0 w 4860"/>
              <a:gd name="p0y14" fmla="*/ 80 h 4500"/>
              <a:gd name="p0x15" fmla="*/ 80 w 4860"/>
              <a:gd name="p0y15" fmla="*/ 0 h 4500"/>
              <a:gd name="p0x16" fmla="*/ 180 w 4860"/>
              <a:gd name="p0y16" fmla="*/ 0 h 45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800225" y="3500120"/>
            <a:ext cx="115570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数据分析</a:t>
            </a:r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23900" y="1876425"/>
            <a:ext cx="3086100" cy="732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1600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频率公式计算费米面截面积</a:t>
            </a:r>
            <a:endParaRPr lang="zh-CN" altLang="en-US" sz="1600">
              <a:solidFill>
                <a:srgbClr val="FFFFFF">
                  <a:alpha val="9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3000"/>
              </a:lnSpc>
            </a:pPr>
            <a:r>
              <a:rPr lang="en-US" altLang="zh-CN" sz="1600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</a:t>
            </a:r>
            <a:r>
              <a:rPr lang="zh-CN" altLang="en-US" sz="1600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公式拟合载流子有效质量</a:t>
            </a:r>
            <a:endParaRPr lang="zh-CN" altLang="en-US" sz="1600">
              <a:solidFill>
                <a:srgbClr val="FFFFFF">
                  <a:alpha val="9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1049655" y="3823970"/>
            <a:ext cx="2433955" cy="474345"/>
          </a:xfrm>
          <a:custGeom>
            <a:avLst/>
            <a:gdLst>
              <a:gd name="sw" fmla="*/ 1 w 3833"/>
              <a:gd name="sh" fmla="*/ 1 h 747"/>
              <a:gd name="mins" fmla="min sw sh"/>
              <a:gd name="dsw" fmla="+- 0 sw mins"/>
              <a:gd name="dsh" fmla="+- 0 sh mins"/>
              <a:gd name="p0x0" fmla="*/ 90 w 3833"/>
              <a:gd name="p0y0" fmla="*/ 0 h 747"/>
              <a:gd name="p0x1" fmla="*/ 3743 w 3833"/>
              <a:gd name="p0y1" fmla="*/ 0 h 747"/>
              <a:gd name="p0x2" fmla="*/ 3793 w 3833"/>
              <a:gd name="p0y2" fmla="*/ 0 h 747"/>
              <a:gd name="p0x3" fmla="*/ 3833 w 3833"/>
              <a:gd name="p0y3" fmla="*/ 40 h 747"/>
              <a:gd name="p0x4" fmla="*/ 3833 w 3833"/>
              <a:gd name="p0y4" fmla="*/ 90 h 747"/>
              <a:gd name="p0x5" fmla="*/ 3833 w 3833"/>
              <a:gd name="p0y5" fmla="*/ 657 h 747"/>
              <a:gd name="p0x6" fmla="*/ 3833 w 3833"/>
              <a:gd name="p0y6" fmla="*/ 707 h 747"/>
              <a:gd name="p0x7" fmla="*/ 3793 w 3833"/>
              <a:gd name="p0y7" fmla="*/ 747 h 747"/>
              <a:gd name="p0x8" fmla="*/ 3743 w 3833"/>
              <a:gd name="p0y8" fmla="*/ 747 h 747"/>
              <a:gd name="p0x9" fmla="*/ 90 w 3833"/>
              <a:gd name="p0y9" fmla="*/ 747 h 747"/>
              <a:gd name="p0x10" fmla="*/ 40 w 3833"/>
              <a:gd name="p0y10" fmla="*/ 747 h 747"/>
              <a:gd name="p0x11" fmla="*/ 0 w 3833"/>
              <a:gd name="p0y11" fmla="*/ 707 h 747"/>
              <a:gd name="p0x12" fmla="*/ 0 w 3833"/>
              <a:gd name="p0y12" fmla="*/ 657 h 747"/>
              <a:gd name="p0x13" fmla="*/ 0 w 3833"/>
              <a:gd name="p0y13" fmla="*/ 90 h 747"/>
              <a:gd name="p0x14" fmla="*/ 0 w 3833"/>
              <a:gd name="p0y14" fmla="*/ 40 h 747"/>
              <a:gd name="p0x15" fmla="*/ 40 w 3833"/>
              <a:gd name="p0y15" fmla="*/ 0 h 747"/>
              <a:gd name="p0x16" fmla="*/ 90 w 3833"/>
              <a:gd name="p0y16" fmla="*/ 0 h 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85725" dist="3810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778794" y="3938435"/>
            <a:ext cx="976313" cy="2460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费米面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1454785" y="4374515"/>
            <a:ext cx="1623060" cy="478155"/>
          </a:xfrm>
          <a:custGeom>
            <a:avLst/>
            <a:gdLst>
              <a:gd name="sw" fmla="*/ 1 w 2555"/>
              <a:gd name="sh" fmla="*/ 1 h 752"/>
              <a:gd name="mins" fmla="min sw sh"/>
              <a:gd name="dsw" fmla="+- 0 sw mins"/>
              <a:gd name="dsh" fmla="+- 0 sh mins"/>
              <a:gd name="p0x0" fmla="*/ 90 w 2555"/>
              <a:gd name="p0y0" fmla="*/ 0 h 752"/>
              <a:gd name="p0x1" fmla="*/ 2465 w 2555"/>
              <a:gd name="p0y1" fmla="*/ 0 h 752"/>
              <a:gd name="p0x2" fmla="*/ 2515 w 2555"/>
              <a:gd name="p0y2" fmla="*/ 0 h 752"/>
              <a:gd name="p0x3" fmla="*/ 2555 w 2555"/>
              <a:gd name="p0y3" fmla="*/ 40 h 752"/>
              <a:gd name="p0x4" fmla="*/ 2555 w 2555"/>
              <a:gd name="p0y4" fmla="*/ 90 h 752"/>
              <a:gd name="p0x5" fmla="*/ 2555 w 2555"/>
              <a:gd name="p0y5" fmla="*/ 662 h 752"/>
              <a:gd name="p0x6" fmla="*/ 2555 w 2555"/>
              <a:gd name="p0y6" fmla="*/ 712 h 752"/>
              <a:gd name="p0x7" fmla="*/ 2515 w 2555"/>
              <a:gd name="p0y7" fmla="*/ 752 h 752"/>
              <a:gd name="p0x8" fmla="*/ 2465 w 2555"/>
              <a:gd name="p0y8" fmla="*/ 752 h 752"/>
              <a:gd name="p0x9" fmla="*/ 90 w 2555"/>
              <a:gd name="p0y9" fmla="*/ 752 h 752"/>
              <a:gd name="p0x10" fmla="*/ 40 w 2555"/>
              <a:gd name="p0y10" fmla="*/ 752 h 752"/>
              <a:gd name="p0x11" fmla="*/ 0 w 2555"/>
              <a:gd name="p0y11" fmla="*/ 712 h 752"/>
              <a:gd name="p0x12" fmla="*/ 0 w 2555"/>
              <a:gd name="p0y12" fmla="*/ 662 h 752"/>
              <a:gd name="p0x13" fmla="*/ 0 w 2555"/>
              <a:gd name="p0y13" fmla="*/ 90 h 752"/>
              <a:gd name="p0x14" fmla="*/ 0 w 2555"/>
              <a:gd name="p0y14" fmla="*/ 40 h 752"/>
              <a:gd name="p0x15" fmla="*/ 40 w 2555"/>
              <a:gd name="p0y15" fmla="*/ 0 h 752"/>
              <a:gd name="p0x16" fmla="*/ 90 w 2555"/>
              <a:gd name="p0y16" fmla="*/ 0 h 7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85725" dist="3810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776336" y="4489256"/>
            <a:ext cx="964406" cy="2495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sz="1400" b="1" i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有效质量</a:t>
            </a:r>
            <a:endParaRPr lang="zh-CN" sz="1400" b="1" i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1860550" y="4986020"/>
            <a:ext cx="811530" cy="885825"/>
          </a:xfrm>
          <a:custGeom>
            <a:avLst/>
            <a:gdLst>
              <a:gd name="sw" fmla="*/ 1 w 1277"/>
              <a:gd name="sh" fmla="*/ 1 h 1395"/>
              <a:gd name="mins" fmla="min sw sh"/>
              <a:gd name="dsw" fmla="+- 0 sw mins"/>
              <a:gd name="dsh" fmla="+- 0 sh mins"/>
              <a:gd name="p0x0" fmla="*/ 90 w 1277"/>
              <a:gd name="p0y0" fmla="*/ 0 h 1395"/>
              <a:gd name="p0x1" fmla="*/ 1187 w 1277"/>
              <a:gd name="p0y1" fmla="*/ 0 h 1395"/>
              <a:gd name="p0x2" fmla="*/ 1237 w 1277"/>
              <a:gd name="p0y2" fmla="*/ 0 h 1395"/>
              <a:gd name="p0x3" fmla="*/ 1277 w 1277"/>
              <a:gd name="p0y3" fmla="*/ 40 h 1395"/>
              <a:gd name="p0x4" fmla="*/ 1277 w 1277"/>
              <a:gd name="p0y4" fmla="*/ 90 h 1395"/>
              <a:gd name="p0x5" fmla="*/ 1277 w 1277"/>
              <a:gd name="p0y5" fmla="*/ 1305 h 1395"/>
              <a:gd name="p0x6" fmla="*/ 1277 w 1277"/>
              <a:gd name="p0y6" fmla="*/ 1354 h 1395"/>
              <a:gd name="p0x7" fmla="*/ 1237 w 1277"/>
              <a:gd name="p0y7" fmla="*/ 1395 h 1395"/>
              <a:gd name="p0x8" fmla="*/ 1187 w 1277"/>
              <a:gd name="p0y8" fmla="*/ 1395 h 1395"/>
              <a:gd name="p0x9" fmla="*/ 90 w 1277"/>
              <a:gd name="p0y9" fmla="*/ 1395 h 1395"/>
              <a:gd name="p0x10" fmla="*/ 40 w 1277"/>
              <a:gd name="p0y10" fmla="*/ 1395 h 1395"/>
              <a:gd name="p0x11" fmla="*/ 0 w 1277"/>
              <a:gd name="p0y11" fmla="*/ 1354 h 1395"/>
              <a:gd name="p0x12" fmla="*/ 0 w 1277"/>
              <a:gd name="p0y12" fmla="*/ 1305 h 1395"/>
              <a:gd name="p0x13" fmla="*/ 0 w 1277"/>
              <a:gd name="p0y13" fmla="*/ 90 h 1395"/>
              <a:gd name="p0x14" fmla="*/ 0 w 1277"/>
              <a:gd name="p0y14" fmla="*/ 40 h 1395"/>
              <a:gd name="p0x15" fmla="*/ 40 w 1277"/>
              <a:gd name="p0y15" fmla="*/ 0 h 1395"/>
              <a:gd name="p0x16" fmla="*/ 90 w 1277"/>
              <a:gd name="p0y16" fmla="*/ 0 h 1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  <a:effectLst>
            <a:outerShdw blurRad="85725" dist="3810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009699" y="5100714"/>
            <a:ext cx="514350" cy="657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43180"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重绘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曲线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4267200" y="1162050"/>
            <a:ext cx="3638550" cy="2523490"/>
            <a:chOff x="6720" y="1830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17" name="任意多边形 16"/>
            <p:cNvSpPr/>
            <p:nvPr>
              <p:custDataLst>
                <p:tags r:id="rId15"/>
              </p:custDataLst>
            </p:nvPr>
          </p:nvSpPr>
          <p:spPr>
            <a:xfrm>
              <a:off x="6720" y="1830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6"/>
              </p:custDataLst>
            </p:nvPr>
          </p:nvSpPr>
          <p:spPr>
            <a:xfrm>
              <a:off x="6720" y="1830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4552950" y="1390650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5124450" y="1471613"/>
            <a:ext cx="1290638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费米面计算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4552950" y="1946910"/>
            <a:ext cx="3067050" cy="9728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8096250" y="1162050"/>
            <a:ext cx="3638550" cy="2523490"/>
            <a:chOff x="12750" y="1830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26" name="任意多边形 25"/>
            <p:cNvSpPr/>
            <p:nvPr>
              <p:custDataLst>
                <p:tags r:id="rId20"/>
              </p:custDataLst>
            </p:nvPr>
          </p:nvSpPr>
          <p:spPr>
            <a:xfrm>
              <a:off x="12750" y="1830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1"/>
              </p:custDataLst>
            </p:nvPr>
          </p:nvSpPr>
          <p:spPr>
            <a:xfrm>
              <a:off x="12750" y="1830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任意多边形 28"/>
          <p:cNvSpPr/>
          <p:nvPr>
            <p:custDataLst>
              <p:tags r:id="rId22"/>
            </p:custDataLst>
          </p:nvPr>
        </p:nvSpPr>
        <p:spPr>
          <a:xfrm>
            <a:off x="8382000" y="1390650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3"/>
            </p:custDataLst>
          </p:nvPr>
        </p:nvSpPr>
        <p:spPr>
          <a:xfrm>
            <a:off x="8953500" y="1454785"/>
            <a:ext cx="2188210" cy="309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b="1" i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有效质量计算</a:t>
            </a:r>
            <a:endParaRPr lang="zh-CN" b="1" i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4"/>
            </p:custDataLst>
          </p:nvPr>
        </p:nvSpPr>
        <p:spPr>
          <a:xfrm>
            <a:off x="8382000" y="1946910"/>
            <a:ext cx="2919730" cy="12452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的调和平均值</a:t>
            </a:r>
            <a:endParaRPr 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sz="16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公式非线性最小二乘拟合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267200" y="3876675"/>
            <a:ext cx="3638550" cy="2523490"/>
            <a:chOff x="6720" y="6105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5" name="任意多边形 34"/>
            <p:cNvSpPr/>
            <p:nvPr>
              <p:custDataLst>
                <p:tags r:id="rId25"/>
              </p:custDataLst>
            </p:nvPr>
          </p:nvSpPr>
          <p:spPr>
            <a:xfrm>
              <a:off x="6720" y="6105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26"/>
              </p:custDataLst>
            </p:nvPr>
          </p:nvSpPr>
          <p:spPr>
            <a:xfrm>
              <a:off x="6720" y="6105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8" name="任意多边形 37"/>
          <p:cNvSpPr/>
          <p:nvPr>
            <p:custDataLst>
              <p:tags r:id="rId27"/>
            </p:custDataLst>
          </p:nvPr>
        </p:nvSpPr>
        <p:spPr>
          <a:xfrm>
            <a:off x="4552950" y="4105275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28"/>
            </p:custDataLst>
          </p:nvPr>
        </p:nvSpPr>
        <p:spPr>
          <a:xfrm>
            <a:off x="5124450" y="4186555"/>
            <a:ext cx="204216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计算结果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096250" y="3876675"/>
            <a:ext cx="3638550" cy="2523490"/>
            <a:chOff x="12750" y="6105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44" name="任意多边形 43"/>
            <p:cNvSpPr/>
            <p:nvPr>
              <p:custDataLst>
                <p:tags r:id="rId29"/>
              </p:custDataLst>
            </p:nvPr>
          </p:nvSpPr>
          <p:spPr>
            <a:xfrm>
              <a:off x="12750" y="6105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30"/>
              </p:custDataLst>
            </p:nvPr>
          </p:nvSpPr>
          <p:spPr>
            <a:xfrm>
              <a:off x="12750" y="6105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任意多边形 46"/>
          <p:cNvSpPr/>
          <p:nvPr>
            <p:custDataLst>
              <p:tags r:id="rId31"/>
            </p:custDataLst>
          </p:nvPr>
        </p:nvSpPr>
        <p:spPr>
          <a:xfrm>
            <a:off x="8382000" y="4105275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2"/>
            </p:custDataLst>
          </p:nvPr>
        </p:nvSpPr>
        <p:spPr>
          <a:xfrm>
            <a:off x="8953500" y="4186238"/>
            <a:ext cx="95250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数值模拟</a:t>
            </a:r>
            <a:endParaRPr lang="zh-CN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3"/>
            </p:custDataLst>
          </p:nvPr>
        </p:nvGraphicFramePr>
        <p:xfrm>
          <a:off x="4604385" y="4706620"/>
          <a:ext cx="2872740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990"/>
                <a:gridCol w="1176655"/>
                <a:gridCol w="887095"/>
              </a:tblGrid>
              <a:tr h="335280"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F(T)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</a:t>
                      </a:r>
                      <a:r>
                        <a:rPr lang="en-US" sz="1600" baseline="-25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F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</a:t>
                      </a:r>
                      <a:r>
                        <a:rPr lang="en-US" sz="1600" baseline="30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-2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</a:t>
                      </a:r>
                      <a:r>
                        <a:rPr lang="en-US" sz="1600" baseline="-25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</a:t>
                      </a:r>
                      <a:r>
                        <a:rPr lang="en-US" sz="1600" baseline="-25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e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46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r>
                        <a:rPr lang="en-US" sz="1600" baseline="30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</a:t>
                      </a:r>
                      <a:endParaRPr lang="en-US" altLang="zh-CN" sz="1600" baseline="30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R="71755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≈0.22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6.7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×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r>
                        <a:rPr lang="en-US" sz="1600" baseline="30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</a:t>
                      </a:r>
                      <a:endParaRPr lang="en-US" altLang="en-US" sz="1600" baseline="30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≈0.15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139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1.3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×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r>
                        <a:rPr lang="en-US" sz="1600" baseline="30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18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≈0.27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8585200" y="4801870"/>
            <a:ext cx="2664460" cy="12217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sz="16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,A</a:t>
            </a:r>
            <a:r>
              <a:rPr lang="en-US" sz="16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代入公式，叠加三个费米面后得到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理论值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24450" y="2121535"/>
            <a:ext cx="1463675" cy="753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1555" y="0"/>
            <a:ext cx="5852160" cy="4389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" y="981075"/>
            <a:ext cx="4724400" cy="5924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4597400"/>
            <a:ext cx="4267200" cy="2260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57200" y="409575"/>
            <a:ext cx="25908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</a:t>
            </a: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展示</a:t>
            </a:r>
            <a:endParaRPr lang="zh-CN" sz="3000" b="1" spc="-67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/Users/86136/Desktop/图片/chenshiyan.pngchenshiyan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060" r="3060"/>
          <a:stretch>
            <a:fillRect/>
          </a:stretch>
        </p:blipFill>
        <p:spPr>
          <a:xfrm>
            <a:off x="146685" y="1035050"/>
            <a:ext cx="3749463" cy="3057525"/>
          </a:xfrm>
          <a:custGeom>
            <a:avLst/>
            <a:gdLst>
              <a:gd name="sw" fmla="*/ 1 w 5904"/>
              <a:gd name="sh" fmla="*/ 1 h 4815"/>
              <a:gd name="mins" fmla="min sw sh"/>
              <a:gd name="dsw" fmla="+- 0 sw mins"/>
              <a:gd name="dsh" fmla="+- 0 sh mins"/>
              <a:gd name="p0x0" fmla="*/ 240 w 5904"/>
              <a:gd name="p0y0" fmla="*/ 0 h 4815"/>
              <a:gd name="p0x1" fmla="*/ 5664 w 5904"/>
              <a:gd name="p0y1" fmla="*/ 0 h 4815"/>
              <a:gd name="p0x2" fmla="*/ 5797 w 5904"/>
              <a:gd name="p0y2" fmla="*/ 0 h 4815"/>
              <a:gd name="p0x3" fmla="*/ 5904 w 5904"/>
              <a:gd name="p0y3" fmla="*/ 107 h 4815"/>
              <a:gd name="p0x4" fmla="*/ 5904 w 5904"/>
              <a:gd name="p0y4" fmla="*/ 240 h 4815"/>
              <a:gd name="p0x5" fmla="*/ 5904 w 5904"/>
              <a:gd name="p0y5" fmla="*/ 4575 h 4815"/>
              <a:gd name="p0x6" fmla="*/ 5904 w 5904"/>
              <a:gd name="p0y6" fmla="*/ 4707 h 4815"/>
              <a:gd name="p0x7" fmla="*/ 5797 w 5904"/>
              <a:gd name="p0y7" fmla="*/ 4815 h 4815"/>
              <a:gd name="p0x8" fmla="*/ 5664 w 5904"/>
              <a:gd name="p0y8" fmla="*/ 4815 h 4815"/>
              <a:gd name="p0x9" fmla="*/ 240 w 5904"/>
              <a:gd name="p0y9" fmla="*/ 4815 h 4815"/>
              <a:gd name="p0x10" fmla="*/ 107 w 5904"/>
              <a:gd name="p0y10" fmla="*/ 4815 h 4815"/>
              <a:gd name="p0x11" fmla="*/ 0 w 5904"/>
              <a:gd name="p0y11" fmla="*/ 4707 h 4815"/>
              <a:gd name="p0x12" fmla="*/ 0 w 5904"/>
              <a:gd name="p0y12" fmla="*/ 4575 h 4815"/>
              <a:gd name="p0x13" fmla="*/ 0 w 5904"/>
              <a:gd name="p0y13" fmla="*/ 240 h 4815"/>
              <a:gd name="p0x14" fmla="*/ 0 w 5904"/>
              <a:gd name="p0y14" fmla="*/ 107 h 4815"/>
              <a:gd name="p0x15" fmla="*/ 107 w 5904"/>
              <a:gd name="p0y15" fmla="*/ 0 h 4815"/>
              <a:gd name="p0x16" fmla="*/ 240 w 5904"/>
              <a:gd name="p0y16" fmla="*/ 0 h 4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46685" y="4111625"/>
            <a:ext cx="3749675" cy="9525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altLang="en-US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en-US" altLang="zh-CN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</a:t>
            </a:r>
            <a:endParaRPr lang="zh-CN" altLang="en-US" sz="12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数据源于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CHEN D, ZHAO L, HE J, et al.  Physical Review B, 2016, 94(17):174411.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46685" y="4905375"/>
            <a:ext cx="3749463" cy="12192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600">
                <a:solidFill>
                  <a:schemeClr val="dk1"/>
                </a:solidFill>
                <a:latin typeface="Calibri" panose="020F0502020204030204" charset="0"/>
                <a:ea typeface="宋体" panose="02010600030101010101" pitchFamily="2" charset="-122"/>
                <a:cs typeface="微软雅黑" panose="020B0503020204020204" charset="-122"/>
              </a:rPr>
              <a:t>。</a:t>
            </a:r>
            <a:endParaRPr lang="zh-CN" altLang="en-US" sz="1600">
              <a:solidFill>
                <a:schemeClr val="dk1"/>
              </a:solidFill>
              <a:latin typeface="Calibri" panose="020F050202020403020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6" name="图片 5" descr="C:/Users/86136/Desktop/图片/rt.pngrt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4013" r="4013"/>
          <a:stretch>
            <a:fillRect/>
          </a:stretch>
        </p:blipFill>
        <p:spPr>
          <a:xfrm>
            <a:off x="4200948" y="1035050"/>
            <a:ext cx="3749463" cy="3057525"/>
          </a:xfrm>
          <a:custGeom>
            <a:avLst/>
            <a:gdLst>
              <a:gd name="sw" fmla="*/ 1 w 5904"/>
              <a:gd name="sh" fmla="*/ 1 h 4815"/>
              <a:gd name="mins" fmla="min sw sh"/>
              <a:gd name="dsw" fmla="+- 0 sw mins"/>
              <a:gd name="dsh" fmla="+- 0 sh mins"/>
              <a:gd name="p0x0" fmla="*/ 240 w 5904"/>
              <a:gd name="p0y0" fmla="*/ 0 h 4815"/>
              <a:gd name="p0x1" fmla="*/ 5664 w 5904"/>
              <a:gd name="p0y1" fmla="*/ 0 h 4815"/>
              <a:gd name="p0x2" fmla="*/ 5797 w 5904"/>
              <a:gd name="p0y2" fmla="*/ 0 h 4815"/>
              <a:gd name="p0x3" fmla="*/ 5904 w 5904"/>
              <a:gd name="p0y3" fmla="*/ 107 h 4815"/>
              <a:gd name="p0x4" fmla="*/ 5904 w 5904"/>
              <a:gd name="p0y4" fmla="*/ 240 h 4815"/>
              <a:gd name="p0x5" fmla="*/ 5904 w 5904"/>
              <a:gd name="p0y5" fmla="*/ 4575 h 4815"/>
              <a:gd name="p0x6" fmla="*/ 5904 w 5904"/>
              <a:gd name="p0y6" fmla="*/ 4707 h 4815"/>
              <a:gd name="p0x7" fmla="*/ 5797 w 5904"/>
              <a:gd name="p0y7" fmla="*/ 4815 h 4815"/>
              <a:gd name="p0x8" fmla="*/ 5664 w 5904"/>
              <a:gd name="p0y8" fmla="*/ 4815 h 4815"/>
              <a:gd name="p0x9" fmla="*/ 240 w 5904"/>
              <a:gd name="p0y9" fmla="*/ 4815 h 4815"/>
              <a:gd name="p0x10" fmla="*/ 107 w 5904"/>
              <a:gd name="p0y10" fmla="*/ 4815 h 4815"/>
              <a:gd name="p0x11" fmla="*/ 0 w 5904"/>
              <a:gd name="p0y11" fmla="*/ 4707 h 4815"/>
              <a:gd name="p0x12" fmla="*/ 0 w 5904"/>
              <a:gd name="p0y12" fmla="*/ 4575 h 4815"/>
              <a:gd name="p0x13" fmla="*/ 0 w 5904"/>
              <a:gd name="p0y13" fmla="*/ 240 h 4815"/>
              <a:gd name="p0x14" fmla="*/ 0 w 5904"/>
              <a:gd name="p0y14" fmla="*/ 107 h 4815"/>
              <a:gd name="p0x15" fmla="*/ 107 w 5904"/>
              <a:gd name="p0y15" fmla="*/ 0 h 4815"/>
              <a:gd name="p0x16" fmla="*/ 240 w 5904"/>
              <a:gd name="p0y16" fmla="*/ 0 h 4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200948" y="4092575"/>
            <a:ext cx="3749463" cy="4064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仅考虑温度阻尼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4149513" y="5064125"/>
            <a:ext cx="3749463" cy="12192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有明显的振荡，满足温度越低振幅越大，但是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值较低的区域，模拟振幅衰减不足</a:t>
            </a:r>
            <a:endParaRPr lang="zh-CN" altLang="en-US"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C:/Users/86136/Desktop/图片/dingle.pngdingl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013" r="4013"/>
          <a:stretch>
            <a:fillRect/>
          </a:stretch>
        </p:blipFill>
        <p:spPr>
          <a:xfrm>
            <a:off x="8255212" y="1035050"/>
            <a:ext cx="3749463" cy="3057525"/>
          </a:xfrm>
          <a:custGeom>
            <a:avLst/>
            <a:gdLst>
              <a:gd name="sw" fmla="*/ 1 w 5904"/>
              <a:gd name="sh" fmla="*/ 1 h 4815"/>
              <a:gd name="mins" fmla="min sw sh"/>
              <a:gd name="dsw" fmla="+- 0 sw mins"/>
              <a:gd name="dsh" fmla="+- 0 sh mins"/>
              <a:gd name="p0x0" fmla="*/ 240 w 5904"/>
              <a:gd name="p0y0" fmla="*/ 0 h 4815"/>
              <a:gd name="p0x1" fmla="*/ 5664 w 5904"/>
              <a:gd name="p0y1" fmla="*/ 0 h 4815"/>
              <a:gd name="p0x2" fmla="*/ 5797 w 5904"/>
              <a:gd name="p0y2" fmla="*/ 0 h 4815"/>
              <a:gd name="p0x3" fmla="*/ 5904 w 5904"/>
              <a:gd name="p0y3" fmla="*/ 107 h 4815"/>
              <a:gd name="p0x4" fmla="*/ 5904 w 5904"/>
              <a:gd name="p0y4" fmla="*/ 240 h 4815"/>
              <a:gd name="p0x5" fmla="*/ 5904 w 5904"/>
              <a:gd name="p0y5" fmla="*/ 4575 h 4815"/>
              <a:gd name="p0x6" fmla="*/ 5904 w 5904"/>
              <a:gd name="p0y6" fmla="*/ 4707 h 4815"/>
              <a:gd name="p0x7" fmla="*/ 5797 w 5904"/>
              <a:gd name="p0y7" fmla="*/ 4815 h 4815"/>
              <a:gd name="p0x8" fmla="*/ 5664 w 5904"/>
              <a:gd name="p0y8" fmla="*/ 4815 h 4815"/>
              <a:gd name="p0x9" fmla="*/ 240 w 5904"/>
              <a:gd name="p0y9" fmla="*/ 4815 h 4815"/>
              <a:gd name="p0x10" fmla="*/ 107 w 5904"/>
              <a:gd name="p0y10" fmla="*/ 4815 h 4815"/>
              <a:gd name="p0x11" fmla="*/ 0 w 5904"/>
              <a:gd name="p0y11" fmla="*/ 4707 h 4815"/>
              <a:gd name="p0x12" fmla="*/ 0 w 5904"/>
              <a:gd name="p0y12" fmla="*/ 4575 h 4815"/>
              <a:gd name="p0x13" fmla="*/ 0 w 5904"/>
              <a:gd name="p0y13" fmla="*/ 240 h 4815"/>
              <a:gd name="p0x14" fmla="*/ 0 w 5904"/>
              <a:gd name="p0y14" fmla="*/ 107 h 4815"/>
              <a:gd name="p0x15" fmla="*/ 107 w 5904"/>
              <a:gd name="p0y15" fmla="*/ 0 h 4815"/>
              <a:gd name="p0x16" fmla="*/ 240 w 5904"/>
              <a:gd name="p0y16" fmla="*/ 0 h 4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  <a:effectLst/>
        </p:spPr>
      </p:pic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255212" y="4092575"/>
            <a:ext cx="3749463" cy="4064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altLang="en-US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en-US" altLang="zh-CN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考虑温度阻尼和</a:t>
            </a:r>
            <a:r>
              <a:rPr lang="en-US" altLang="zh-CN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Dingle</a:t>
            </a:r>
            <a:r>
              <a:rPr lang="zh-CN" altLang="en-US" sz="12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</a:t>
            </a:r>
            <a:endParaRPr lang="zh-CN" altLang="en-US" sz="12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8255212" y="5064125"/>
            <a:ext cx="3749463" cy="12192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值较低时，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不能忽略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电子的散射，加入 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Dingle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因子后，低 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区振幅衰减更明显，模拟曲线与实验趋势更为接近</a:t>
            </a:r>
            <a:endParaRPr lang="zh-CN" altLang="en-US"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457200" y="409575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理论与实验对比</a:t>
            </a:r>
            <a:endParaRPr sz="3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" y="890905"/>
            <a:ext cx="5165090" cy="5967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2292985"/>
            <a:ext cx="4800600" cy="2597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57200" y="409575"/>
            <a:ext cx="25908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</a:t>
            </a:r>
            <a:r>
              <a:rPr lang="zh-CN" sz="3000" b="1" spc="-67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展示</a:t>
            </a:r>
            <a:endParaRPr lang="zh-CN" sz="3000" b="1" spc="-67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19431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3000" b="1" spc="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sz="3000" b="1" spc="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57200" y="1162050"/>
            <a:ext cx="3630930" cy="5238750"/>
            <a:chOff x="720" y="1830"/>
            <a:chExt cx="5718" cy="8250"/>
          </a:xfrm>
          <a:effectLst>
            <a:outerShdw blurRad="85725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5719" cy="8250"/>
            </a:xfrm>
            <a:custGeom>
              <a:avLst/>
              <a:gdLst>
                <a:gd name="sw" fmla="*/ 1 w 5719"/>
                <a:gd name="sh" fmla="*/ 1 h 8250"/>
                <a:gd name="mins" fmla="min sw sh"/>
                <a:gd name="dsw" fmla="+- 0 sw mins"/>
                <a:gd name="dsh" fmla="+- 0 sh mins"/>
                <a:gd name="p0x0" fmla="*/ 240 w 5719"/>
                <a:gd name="p0y0" fmla="*/ 0 h 8250"/>
                <a:gd name="p0x1" fmla="*/ 5479 w 5719"/>
                <a:gd name="p0y1" fmla="*/ 0 h 8250"/>
                <a:gd name="p0x2" fmla="*/ 5612 w 5719"/>
                <a:gd name="p0y2" fmla="*/ 0 h 8250"/>
                <a:gd name="p0x3" fmla="*/ 5719 w 5719"/>
                <a:gd name="p0y3" fmla="*/ 107 h 8250"/>
                <a:gd name="p0x4" fmla="*/ 5719 w 5719"/>
                <a:gd name="p0y4" fmla="*/ 240 h 8250"/>
                <a:gd name="p0x5" fmla="*/ 5719 w 5719"/>
                <a:gd name="p0y5" fmla="*/ 8010 h 8250"/>
                <a:gd name="p0x6" fmla="*/ 5719 w 5719"/>
                <a:gd name="p0y6" fmla="*/ 8142 h 8250"/>
                <a:gd name="p0x7" fmla="*/ 5612 w 5719"/>
                <a:gd name="p0y7" fmla="*/ 8250 h 8250"/>
                <a:gd name="p0x8" fmla="*/ 5479 w 5719"/>
                <a:gd name="p0y8" fmla="*/ 8250 h 8250"/>
                <a:gd name="p0x9" fmla="*/ 240 w 5719"/>
                <a:gd name="p0y9" fmla="*/ 8250 h 8250"/>
                <a:gd name="p0x10" fmla="*/ 107 w 5719"/>
                <a:gd name="p0y10" fmla="*/ 8250 h 8250"/>
                <a:gd name="p0x11" fmla="*/ 0 w 5719"/>
                <a:gd name="p0y11" fmla="*/ 8142 h 8250"/>
                <a:gd name="p0x12" fmla="*/ 0 w 5719"/>
                <a:gd name="p0y12" fmla="*/ 8010 h 8250"/>
                <a:gd name="p0x13" fmla="*/ 0 w 5719"/>
                <a:gd name="p0y13" fmla="*/ 240 h 8250"/>
                <a:gd name="p0x14" fmla="*/ 0 w 5719"/>
                <a:gd name="p0y14" fmla="*/ 107 h 8250"/>
                <a:gd name="p0x15" fmla="*/ 107 w 5719"/>
                <a:gd name="p0y15" fmla="*/ 0 h 8250"/>
                <a:gd name="p0x16" fmla="*/ 240 w 5719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5719" cy="240"/>
            </a:xfrm>
            <a:custGeom>
              <a:avLst/>
              <a:gdLst>
                <a:gd name="sw" fmla="*/ 1 w 5719"/>
                <a:gd name="sh" fmla="*/ 1 h 240"/>
                <a:gd name="mins" fmla="min sw sh"/>
                <a:gd name="dsw" fmla="+- 0 sw mins"/>
                <a:gd name="dsh" fmla="+- 0 sh mins"/>
                <a:gd name="p0x0" fmla="*/ 240 w 5719"/>
                <a:gd name="p0y0" fmla="*/ 0 h 240"/>
                <a:gd name="p0x1" fmla="*/ 5479 w 5719"/>
                <a:gd name="p0y1" fmla="*/ 0 h 240"/>
                <a:gd name="p0x2" fmla="*/ 5612 w 5719"/>
                <a:gd name="p0y2" fmla="*/ 0 h 240"/>
                <a:gd name="p0x3" fmla="*/ 5719 w 5719"/>
                <a:gd name="p0y3" fmla="*/ 107 h 240"/>
                <a:gd name="p0x4" fmla="*/ 5719 w 5719"/>
                <a:gd name="p0y4" fmla="*/ 240 h 240"/>
                <a:gd name="p0x5" fmla="*/ 5719 w 5719"/>
                <a:gd name="p0y5" fmla="*/ 157 h 240"/>
                <a:gd name="p0x6" fmla="*/ 5612 w 5719"/>
                <a:gd name="p0y6" fmla="*/ 90 h 240"/>
                <a:gd name="p0x7" fmla="*/ 5479 w 5719"/>
                <a:gd name="p0y7" fmla="*/ 90 h 240"/>
                <a:gd name="p0x8" fmla="*/ 240 w 5719"/>
                <a:gd name="p0y8" fmla="*/ 90 h 240"/>
                <a:gd name="p0x9" fmla="*/ 107 w 5719"/>
                <a:gd name="p0y9" fmla="*/ 90 h 240"/>
                <a:gd name="p0x10" fmla="*/ 0 w 5719"/>
                <a:gd name="p0y10" fmla="*/ 157 h 240"/>
                <a:gd name="p0x11" fmla="*/ 0 w 5719"/>
                <a:gd name="p0y11" fmla="*/ 240 h 240"/>
                <a:gd name="p0x12" fmla="*/ 0 w 5719"/>
                <a:gd name="p0y12" fmla="*/ 107 h 240"/>
                <a:gd name="p0x13" fmla="*/ 107 w 5719"/>
                <a:gd name="p0y13" fmla="*/ 0 h 240"/>
                <a:gd name="p0x14" fmla="*/ 240 w 5719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369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85800" y="14478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369A1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85165" y="2283143"/>
            <a:ext cx="3174949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数据处理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8000"/>
              </a:lnSpc>
            </a:pPr>
            <a:endParaRPr lang="zh-CN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85800" y="2557780"/>
            <a:ext cx="3173730" cy="313690"/>
            <a:chOff x="1080" y="4028"/>
            <a:chExt cx="4998" cy="494"/>
          </a:xfrm>
        </p:grpSpPr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>
              <a:off x="1080" y="4028"/>
              <a:ext cx="4999" cy="495"/>
            </a:xfrm>
            <a:custGeom>
              <a:avLst/>
              <a:gdLst>
                <a:gd name="sw" fmla="*/ 1 w 4999"/>
                <a:gd name="sh" fmla="*/ 1 h 494"/>
                <a:gd name="mins" fmla="min sw sh"/>
                <a:gd name="dsw" fmla="+- 0 sw mins"/>
                <a:gd name="dsh" fmla="+- 0 sh mins"/>
                <a:gd name="p0x0" fmla="*/ 0 w 4999"/>
                <a:gd name="p0y0" fmla="*/ 0 h 494"/>
                <a:gd name="p0x1" fmla="*/ 4999 w 4999"/>
                <a:gd name="p0y1" fmla="*/ 0 h 494"/>
                <a:gd name="p0x2" fmla="*/ 4999 w 4999"/>
                <a:gd name="p0y2" fmla="*/ 494 h 494"/>
                <a:gd name="p0x3" fmla="*/ 0 w 4999"/>
                <a:gd name="p0y3" fmla="*/ 494 h 494"/>
                <a:gd name="p0x4" fmla="*/ 0 w 4999"/>
                <a:gd name="p0y4" fmla="*/ 0 h 494"/>
              </a:gdLst>
              <a:ahLst/>
              <a:cxnLst/>
              <a:pathLst>
                <a:path w="4999" h="495">
                  <a:moveTo>
                    <a:pt x="0" y="0"/>
                  </a:moveTo>
                  <a:lnTo>
                    <a:pt x="4999" y="0"/>
                  </a:lnTo>
                  <a:lnTo>
                    <a:pt x="4999" y="495"/>
                  </a:lnTo>
                  <a:lnTo>
                    <a:pt x="0" y="49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1080" y="4508"/>
              <a:ext cx="4999" cy="15"/>
            </a:xfrm>
            <a:custGeom>
              <a:avLst/>
              <a:gdLst>
                <a:gd name="sw" fmla="*/ 1 w 4999"/>
                <a:gd name="sh" fmla="*/ 1 h 15"/>
                <a:gd name="mins" fmla="min sw sh"/>
                <a:gd name="dsw" fmla="+- 0 sw mins"/>
                <a:gd name="dsh" fmla="+- 0 sh mins"/>
                <a:gd name="p0x0" fmla="*/ 4999 w 4999"/>
                <a:gd name="p0y0" fmla="*/ 15 h 15"/>
                <a:gd name="p0x1" fmla="*/ 0 w 4999"/>
                <a:gd name="p0y1" fmla="*/ 15 h 15"/>
                <a:gd name="p0x2" fmla="*/ 0 w 4999"/>
                <a:gd name="p0y2" fmla="*/ 0 h 15"/>
                <a:gd name="p0x3" fmla="*/ 4999 w 4999"/>
                <a:gd name="p0y3" fmla="*/ 0 h 15"/>
                <a:gd name="p0x4" fmla="*/ 4999 w 4999"/>
                <a:gd name="p0y4" fmla="*/ 15 h 15"/>
              </a:gdLst>
              <a:ahLst/>
              <a:cxnLst/>
              <a:pathLst>
                <a:path w="4999" h="15">
                  <a:moveTo>
                    <a:pt x="4999" y="15"/>
                  </a:moveTo>
                  <a:lnTo>
                    <a:pt x="0" y="15"/>
                  </a:lnTo>
                  <a:lnTo>
                    <a:pt x="0" y="0"/>
                  </a:lnTo>
                  <a:lnTo>
                    <a:pt x="4999" y="0"/>
                  </a:lnTo>
                  <a:lnTo>
                    <a:pt x="4999" y="15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85800" y="2969895"/>
            <a:ext cx="3175000" cy="2156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just">
              <a:lnSpc>
                <a:spcPct val="133000"/>
              </a:lnSpc>
            </a:pPr>
            <a:r>
              <a:rPr 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</a:t>
            </a:r>
            <a:r>
              <a:rPr lang="en-US" altLang="zh-CN" sz="1600" baseline="-250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r>
              <a:rPr lang="en-US" altLang="zh-CN" sz="1600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例，介绍如何处理</a:t>
            </a:r>
            <a:r>
              <a:rPr lang="en-US" alt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SdH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振荡的实验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endParaRPr lang="zh-CN" altLang="en-US"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>
            <a:off x="690245" y="5657850"/>
            <a:ext cx="3165475" cy="509270"/>
          </a:xfrm>
          <a:custGeom>
            <a:avLst/>
            <a:gdLst>
              <a:gd name="sw" fmla="*/ 1 w 4984"/>
              <a:gd name="sh" fmla="*/ 1 h 802"/>
              <a:gd name="mins" fmla="min sw sh"/>
              <a:gd name="dsw" fmla="+- 0 sw mins"/>
              <a:gd name="dsh" fmla="+- 0 sh mins"/>
              <a:gd name="p0x0" fmla="*/ 120 w 4984"/>
              <a:gd name="p0y0" fmla="*/ 0 h 802"/>
              <a:gd name="p0x1" fmla="*/ 4864 w 4984"/>
              <a:gd name="p0y1" fmla="*/ 0 h 802"/>
              <a:gd name="p0x2" fmla="*/ 4931 w 4984"/>
              <a:gd name="p0y2" fmla="*/ 0 h 802"/>
              <a:gd name="p0x3" fmla="*/ 4984 w 4984"/>
              <a:gd name="p0y3" fmla="*/ 53 h 802"/>
              <a:gd name="p0x4" fmla="*/ 4984 w 4984"/>
              <a:gd name="p0y4" fmla="*/ 120 h 802"/>
              <a:gd name="p0x5" fmla="*/ 4984 w 4984"/>
              <a:gd name="p0y5" fmla="*/ 682 h 802"/>
              <a:gd name="p0x6" fmla="*/ 4984 w 4984"/>
              <a:gd name="p0y6" fmla="*/ 748 h 802"/>
              <a:gd name="p0x7" fmla="*/ 4931 w 4984"/>
              <a:gd name="p0y7" fmla="*/ 802 h 802"/>
              <a:gd name="p0x8" fmla="*/ 4864 w 4984"/>
              <a:gd name="p0y8" fmla="*/ 802 h 802"/>
              <a:gd name="p0x9" fmla="*/ 120 w 4984"/>
              <a:gd name="p0y9" fmla="*/ 802 h 802"/>
              <a:gd name="p0x10" fmla="*/ 53 w 4984"/>
              <a:gd name="p0y10" fmla="*/ 802 h 802"/>
              <a:gd name="p0x11" fmla="*/ 0 w 4984"/>
              <a:gd name="p0y11" fmla="*/ 748 h 802"/>
              <a:gd name="p0x12" fmla="*/ 0 w 4984"/>
              <a:gd name="p0y12" fmla="*/ 682 h 802"/>
              <a:gd name="p0x13" fmla="*/ 0 w 4984"/>
              <a:gd name="p0y13" fmla="*/ 120 h 802"/>
              <a:gd name="p0x14" fmla="*/ 0 w 4984"/>
              <a:gd name="p0y14" fmla="*/ 53 h 802"/>
              <a:gd name="p0x15" fmla="*/ 53 w 4984"/>
              <a:gd name="p0y15" fmla="*/ 0 h 802"/>
              <a:gd name="p0x16" fmla="*/ 120 w 4984"/>
              <a:gd name="p0y16" fmla="*/ 0 h 8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1"/>
            </p:custDataLst>
          </p:nvPr>
        </p:nvSpPr>
        <p:spPr>
          <a:xfrm>
            <a:off x="809625" y="5991225"/>
            <a:ext cx="2926715" cy="57150"/>
          </a:xfrm>
          <a:custGeom>
            <a:avLst/>
            <a:gdLst>
              <a:gd name="sw" fmla="*/ 1 w 4609"/>
              <a:gd name="sh" fmla="*/ 1 h 90"/>
              <a:gd name="mins" fmla="min sw sh"/>
              <a:gd name="dsw" fmla="+- 0 sw mins"/>
              <a:gd name="dsh" fmla="+- 0 sh mins"/>
              <a:gd name="p0x0" fmla="*/ 45 w 4609"/>
              <a:gd name="p0y0" fmla="*/ 0 h 90"/>
              <a:gd name="p0x1" fmla="*/ 4564 w 4609"/>
              <a:gd name="p0y1" fmla="*/ 0 h 90"/>
              <a:gd name="p0x2" fmla="*/ 4589 w 4609"/>
              <a:gd name="p0y2" fmla="*/ 0 h 90"/>
              <a:gd name="p0x3" fmla="*/ 4609 w 4609"/>
              <a:gd name="p0y3" fmla="*/ 20 h 90"/>
              <a:gd name="p0x4" fmla="*/ 4609 w 4609"/>
              <a:gd name="p0y4" fmla="*/ 45 h 90"/>
              <a:gd name="p0x5" fmla="*/ 4609 w 4609"/>
              <a:gd name="p0y5" fmla="*/ 69 h 90"/>
              <a:gd name="p0x6" fmla="*/ 4589 w 4609"/>
              <a:gd name="p0y6" fmla="*/ 90 h 90"/>
              <a:gd name="p0x7" fmla="*/ 4564 w 4609"/>
              <a:gd name="p0y7" fmla="*/ 90 h 90"/>
              <a:gd name="p0x8" fmla="*/ 45 w 4609"/>
              <a:gd name="p0y8" fmla="*/ 90 h 90"/>
              <a:gd name="p0x9" fmla="*/ 20 w 4609"/>
              <a:gd name="p0y9" fmla="*/ 90 h 90"/>
              <a:gd name="p0x10" fmla="*/ 0 w 4609"/>
              <a:gd name="p0y10" fmla="*/ 69 h 90"/>
              <a:gd name="p0x11" fmla="*/ 0 w 4609"/>
              <a:gd name="p0y11" fmla="*/ 45 h 90"/>
              <a:gd name="p0x12" fmla="*/ 0 w 4609"/>
              <a:gd name="p0y12" fmla="*/ 20 h 90"/>
              <a:gd name="p0x13" fmla="*/ 20 w 4609"/>
              <a:gd name="p0y13" fmla="*/ 0 h 90"/>
              <a:gd name="p0x14" fmla="*/ 45 w 4609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2"/>
            </p:custDataLst>
          </p:nvPr>
        </p:nvSpPr>
        <p:spPr>
          <a:xfrm>
            <a:off x="809625" y="5991231"/>
            <a:ext cx="2926715" cy="57139"/>
          </a:xfrm>
          <a:custGeom>
            <a:avLst/>
            <a:gdLst>
              <a:gd name="sw" fmla="*/ 1 w 4609"/>
              <a:gd name="sh" fmla="*/ 1 h 90"/>
              <a:gd name="mins" fmla="min sw sh"/>
              <a:gd name="dsw" fmla="+- 0 sw mins"/>
              <a:gd name="dsh" fmla="+- 0 sh mins"/>
              <a:gd name="p0x0" fmla="*/ 45 w 4609"/>
              <a:gd name="p0y0" fmla="*/ 0 h 90"/>
              <a:gd name="p0x1" fmla="*/ 4564 w 4609"/>
              <a:gd name="p0y1" fmla="*/ 0 h 90"/>
              <a:gd name="p0x2" fmla="*/ 4589 w 4609"/>
              <a:gd name="p0y2" fmla="*/ 0 h 90"/>
              <a:gd name="p0x3" fmla="*/ 4609 w 4609"/>
              <a:gd name="p0y3" fmla="*/ 20 h 90"/>
              <a:gd name="p0x4" fmla="*/ 4609 w 4609"/>
              <a:gd name="p0y4" fmla="*/ 45 h 90"/>
              <a:gd name="p0x5" fmla="*/ 4609 w 4609"/>
              <a:gd name="p0y5" fmla="*/ 69 h 90"/>
              <a:gd name="p0x6" fmla="*/ 4589 w 4609"/>
              <a:gd name="p0y6" fmla="*/ 90 h 90"/>
              <a:gd name="p0x7" fmla="*/ 4564 w 4609"/>
              <a:gd name="p0y7" fmla="*/ 90 h 90"/>
              <a:gd name="p0x8" fmla="*/ 45 w 4609"/>
              <a:gd name="p0y8" fmla="*/ 90 h 90"/>
              <a:gd name="p0x9" fmla="*/ 20 w 4609"/>
              <a:gd name="p0y9" fmla="*/ 90 h 90"/>
              <a:gd name="p0x10" fmla="*/ 0 w 4609"/>
              <a:gd name="p0y10" fmla="*/ 69 h 90"/>
              <a:gd name="p0x11" fmla="*/ 0 w 4609"/>
              <a:gd name="p0y11" fmla="*/ 45 h 90"/>
              <a:gd name="p0x12" fmla="*/ 0 w 4609"/>
              <a:gd name="p0y12" fmla="*/ 20 h 90"/>
              <a:gd name="p0x13" fmla="*/ 20 w 4609"/>
              <a:gd name="p0y13" fmla="*/ 0 h 90"/>
              <a:gd name="p0x14" fmla="*/ 45 w 4609"/>
              <a:gd name="p0y14" fmla="*/ 0 h 90"/>
            </a:gdLst>
            <a:ahLst/>
            <a:cxnLst/>
            <a:pathLst>
              <a:path w="4609" h="90">
                <a:moveTo>
                  <a:pt x="45" y="0"/>
                </a:moveTo>
                <a:lnTo>
                  <a:pt x="4564" y="0"/>
                </a:lnTo>
                <a:cubicBezTo>
                  <a:pt x="4589" y="-1"/>
                  <a:pt x="4610" y="23"/>
                  <a:pt x="4609" y="45"/>
                </a:cubicBezTo>
                <a:cubicBezTo>
                  <a:pt x="4610" y="70"/>
                  <a:pt x="4586" y="91"/>
                  <a:pt x="4564" y="90"/>
                </a:cubicBezTo>
                <a:lnTo>
                  <a:pt x="45" y="90"/>
                </a:lnTo>
                <a:cubicBezTo>
                  <a:pt x="20" y="91"/>
                  <a:pt x="-1" y="67"/>
                  <a:pt x="0" y="45"/>
                </a:cubicBezTo>
                <a:cubicBezTo>
                  <a:pt x="-1" y="20"/>
                  <a:pt x="23" y="-1"/>
                  <a:pt x="45" y="0"/>
                </a:cubicBezTo>
                <a:close/>
              </a:path>
            </a:pathLst>
          </a:custGeom>
          <a:solidFill>
            <a:srgbClr val="0369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4279265" y="1162050"/>
            <a:ext cx="3632200" cy="5238750"/>
            <a:chOff x="6739" y="1830"/>
            <a:chExt cx="5720" cy="8250"/>
          </a:xfrm>
          <a:effectLst>
            <a:outerShdw blurRad="85725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21" name="任意多边形 20"/>
            <p:cNvSpPr/>
            <p:nvPr>
              <p:custDataLst>
                <p:tags r:id="rId13"/>
              </p:custDataLst>
            </p:nvPr>
          </p:nvSpPr>
          <p:spPr>
            <a:xfrm>
              <a:off x="6739" y="1830"/>
              <a:ext cx="5720" cy="8250"/>
            </a:xfrm>
            <a:custGeom>
              <a:avLst/>
              <a:gdLst>
                <a:gd name="sw" fmla="*/ 1 w 5720"/>
                <a:gd name="sh" fmla="*/ 1 h 8250"/>
                <a:gd name="mins" fmla="min sw sh"/>
                <a:gd name="dsw" fmla="+- 0 sw mins"/>
                <a:gd name="dsh" fmla="+- 0 sh mins"/>
                <a:gd name="p0x0" fmla="*/ 240 w 5720"/>
                <a:gd name="p0y0" fmla="*/ 0 h 8250"/>
                <a:gd name="p0x1" fmla="*/ 5480 w 5720"/>
                <a:gd name="p0y1" fmla="*/ 0 h 8250"/>
                <a:gd name="p0x2" fmla="*/ 5612 w 5720"/>
                <a:gd name="p0y2" fmla="*/ 0 h 8250"/>
                <a:gd name="p0x3" fmla="*/ 5720 w 5720"/>
                <a:gd name="p0y3" fmla="*/ 107 h 8250"/>
                <a:gd name="p0x4" fmla="*/ 5720 w 5720"/>
                <a:gd name="p0y4" fmla="*/ 240 h 8250"/>
                <a:gd name="p0x5" fmla="*/ 5720 w 5720"/>
                <a:gd name="p0y5" fmla="*/ 8010 h 8250"/>
                <a:gd name="p0x6" fmla="*/ 5720 w 5720"/>
                <a:gd name="p0y6" fmla="*/ 8142 h 8250"/>
                <a:gd name="p0x7" fmla="*/ 5612 w 5720"/>
                <a:gd name="p0y7" fmla="*/ 8250 h 8250"/>
                <a:gd name="p0x8" fmla="*/ 5480 w 5720"/>
                <a:gd name="p0y8" fmla="*/ 8250 h 8250"/>
                <a:gd name="p0x9" fmla="*/ 240 w 5720"/>
                <a:gd name="p0y9" fmla="*/ 8250 h 8250"/>
                <a:gd name="p0x10" fmla="*/ 107 w 5720"/>
                <a:gd name="p0y10" fmla="*/ 8250 h 8250"/>
                <a:gd name="p0x11" fmla="*/ 0 w 5720"/>
                <a:gd name="p0y11" fmla="*/ 8142 h 8250"/>
                <a:gd name="p0x12" fmla="*/ 0 w 5720"/>
                <a:gd name="p0y12" fmla="*/ 8010 h 8250"/>
                <a:gd name="p0x13" fmla="*/ 0 w 5720"/>
                <a:gd name="p0y13" fmla="*/ 240 h 8250"/>
                <a:gd name="p0x14" fmla="*/ 0 w 5720"/>
                <a:gd name="p0y14" fmla="*/ 107 h 8250"/>
                <a:gd name="p0x15" fmla="*/ 107 w 5720"/>
                <a:gd name="p0y15" fmla="*/ 0 h 8250"/>
                <a:gd name="p0x16" fmla="*/ 240 w 5720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14"/>
              </p:custDataLst>
            </p:nvPr>
          </p:nvSpPr>
          <p:spPr>
            <a:xfrm>
              <a:off x="6739" y="1830"/>
              <a:ext cx="5720" cy="240"/>
            </a:xfrm>
            <a:custGeom>
              <a:avLst/>
              <a:gdLst>
                <a:gd name="sw" fmla="*/ 1 w 5720"/>
                <a:gd name="sh" fmla="*/ 1 h 240"/>
                <a:gd name="mins" fmla="min sw sh"/>
                <a:gd name="dsw" fmla="+- 0 sw mins"/>
                <a:gd name="dsh" fmla="+- 0 sh mins"/>
                <a:gd name="p0x0" fmla="*/ 240 w 5720"/>
                <a:gd name="p0y0" fmla="*/ 0 h 240"/>
                <a:gd name="p0x1" fmla="*/ 5480 w 5720"/>
                <a:gd name="p0y1" fmla="*/ 0 h 240"/>
                <a:gd name="p0x2" fmla="*/ 5612 w 5720"/>
                <a:gd name="p0y2" fmla="*/ 0 h 240"/>
                <a:gd name="p0x3" fmla="*/ 5720 w 5720"/>
                <a:gd name="p0y3" fmla="*/ 107 h 240"/>
                <a:gd name="p0x4" fmla="*/ 5720 w 5720"/>
                <a:gd name="p0y4" fmla="*/ 240 h 240"/>
                <a:gd name="p0x5" fmla="*/ 5720 w 5720"/>
                <a:gd name="p0y5" fmla="*/ 157 h 240"/>
                <a:gd name="p0x6" fmla="*/ 5612 w 5720"/>
                <a:gd name="p0y6" fmla="*/ 90 h 240"/>
                <a:gd name="p0x7" fmla="*/ 5480 w 5720"/>
                <a:gd name="p0y7" fmla="*/ 90 h 240"/>
                <a:gd name="p0x8" fmla="*/ 240 w 5720"/>
                <a:gd name="p0y8" fmla="*/ 90 h 240"/>
                <a:gd name="p0x9" fmla="*/ 107 w 5720"/>
                <a:gd name="p0y9" fmla="*/ 90 h 240"/>
                <a:gd name="p0x10" fmla="*/ 0 w 5720"/>
                <a:gd name="p0y10" fmla="*/ 157 h 240"/>
                <a:gd name="p0x11" fmla="*/ 0 w 5720"/>
                <a:gd name="p0y11" fmla="*/ 240 h 240"/>
                <a:gd name="p0x12" fmla="*/ 0 w 5720"/>
                <a:gd name="p0y12" fmla="*/ 107 h 240"/>
                <a:gd name="p0x13" fmla="*/ 107 w 5720"/>
                <a:gd name="p0y13" fmla="*/ 0 h 240"/>
                <a:gd name="p0x14" fmla="*/ 240 w 572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任意多边形 23"/>
          <p:cNvSpPr/>
          <p:nvPr>
            <p:custDataLst>
              <p:tags r:id="rId15"/>
            </p:custDataLst>
          </p:nvPr>
        </p:nvSpPr>
        <p:spPr>
          <a:xfrm>
            <a:off x="4507865" y="14478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3415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4508449" y="2238058"/>
            <a:ext cx="3175025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代码</a:t>
            </a:r>
            <a:endParaRPr lang="zh-CN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507865" y="2557780"/>
            <a:ext cx="3175000" cy="313690"/>
            <a:chOff x="7099" y="4028"/>
            <a:chExt cx="5000" cy="494"/>
          </a:xfrm>
        </p:grpSpPr>
        <p:sp>
          <p:nvSpPr>
            <p:cNvPr id="27" name="任意多边形 26"/>
            <p:cNvSpPr/>
            <p:nvPr>
              <p:custDataLst>
                <p:tags r:id="rId17"/>
              </p:custDataLst>
            </p:nvPr>
          </p:nvSpPr>
          <p:spPr>
            <a:xfrm>
              <a:off x="7099" y="4028"/>
              <a:ext cx="5000" cy="495"/>
            </a:xfrm>
            <a:custGeom>
              <a:avLst/>
              <a:gdLst>
                <a:gd name="sw" fmla="*/ 1 w 5000"/>
                <a:gd name="sh" fmla="*/ 1 h 494"/>
                <a:gd name="mins" fmla="min sw sh"/>
                <a:gd name="dsw" fmla="+- 0 sw mins"/>
                <a:gd name="dsh" fmla="+- 0 sh mins"/>
                <a:gd name="p0x0" fmla="*/ 0 w 5000"/>
                <a:gd name="p0y0" fmla="*/ 0 h 494"/>
                <a:gd name="p0x1" fmla="*/ 5000 w 5000"/>
                <a:gd name="p0y1" fmla="*/ 0 h 494"/>
                <a:gd name="p0x2" fmla="*/ 5000 w 5000"/>
                <a:gd name="p0y2" fmla="*/ 494 h 494"/>
                <a:gd name="p0x3" fmla="*/ 0 w 5000"/>
                <a:gd name="p0y3" fmla="*/ 494 h 494"/>
                <a:gd name="p0x4" fmla="*/ 0 w 5000"/>
                <a:gd name="p0y4" fmla="*/ 0 h 494"/>
              </a:gdLst>
              <a:ahLst/>
              <a:cxnLst/>
              <a:pathLst>
                <a:path w="5000" h="495">
                  <a:moveTo>
                    <a:pt x="0" y="0"/>
                  </a:moveTo>
                  <a:lnTo>
                    <a:pt x="5000" y="0"/>
                  </a:lnTo>
                  <a:lnTo>
                    <a:pt x="5000" y="495"/>
                  </a:lnTo>
                  <a:lnTo>
                    <a:pt x="0" y="49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18"/>
              </p:custDataLst>
            </p:nvPr>
          </p:nvSpPr>
          <p:spPr>
            <a:xfrm>
              <a:off x="7099" y="4508"/>
              <a:ext cx="5000" cy="15"/>
            </a:xfrm>
            <a:custGeom>
              <a:avLst/>
              <a:gdLst>
                <a:gd name="sw" fmla="*/ 1 w 5000"/>
                <a:gd name="sh" fmla="*/ 1 h 15"/>
                <a:gd name="mins" fmla="min sw sh"/>
                <a:gd name="dsw" fmla="+- 0 sw mins"/>
                <a:gd name="dsh" fmla="+- 0 sh mins"/>
                <a:gd name="p0x0" fmla="*/ 5000 w 5000"/>
                <a:gd name="p0y0" fmla="*/ 15 h 15"/>
                <a:gd name="p0x1" fmla="*/ 0 w 5000"/>
                <a:gd name="p0y1" fmla="*/ 15 h 15"/>
                <a:gd name="p0x2" fmla="*/ 0 w 5000"/>
                <a:gd name="p0y2" fmla="*/ 0 h 15"/>
                <a:gd name="p0x3" fmla="*/ 5000 w 5000"/>
                <a:gd name="p0y3" fmla="*/ 0 h 15"/>
                <a:gd name="p0x4" fmla="*/ 5000 w 5000"/>
                <a:gd name="p0y4" fmla="*/ 15 h 15"/>
              </a:gdLst>
              <a:ahLst/>
              <a:cxnLst/>
              <a:pathLst>
                <a:path w="5000" h="15">
                  <a:moveTo>
                    <a:pt x="5000" y="15"/>
                  </a:moveTo>
                  <a:lnTo>
                    <a:pt x="0" y="15"/>
                  </a:lnTo>
                  <a:lnTo>
                    <a:pt x="0" y="0"/>
                  </a:lnTo>
                  <a:lnTo>
                    <a:pt x="5000" y="0"/>
                  </a:lnTo>
                  <a:lnTo>
                    <a:pt x="5000" y="15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19"/>
            </p:custDataLst>
          </p:nvPr>
        </p:nvSpPr>
        <p:spPr>
          <a:xfrm>
            <a:off x="4508500" y="2969895"/>
            <a:ext cx="3175000" cy="1656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just">
              <a:lnSpc>
                <a:spcPct val="133000"/>
              </a:lnSpc>
            </a:pPr>
            <a:r>
              <a:rPr 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快速傅里叶变换得到了费米面，非线性最小二乘拟合得到载流子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有效质量</a:t>
            </a:r>
            <a:endParaRPr lang="zh-CN" altLang="en-US"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0"/>
            </p:custDataLst>
          </p:nvPr>
        </p:nvSpPr>
        <p:spPr>
          <a:xfrm>
            <a:off x="4512945" y="5657850"/>
            <a:ext cx="3165475" cy="509270"/>
          </a:xfrm>
          <a:custGeom>
            <a:avLst/>
            <a:gdLst>
              <a:gd name="sw" fmla="*/ 1 w 4985"/>
              <a:gd name="sh" fmla="*/ 1 h 802"/>
              <a:gd name="mins" fmla="min sw sh"/>
              <a:gd name="dsw" fmla="+- 0 sw mins"/>
              <a:gd name="dsh" fmla="+- 0 sh mins"/>
              <a:gd name="p0x0" fmla="*/ 120 w 4985"/>
              <a:gd name="p0y0" fmla="*/ 0 h 802"/>
              <a:gd name="p0x1" fmla="*/ 4865 w 4985"/>
              <a:gd name="p0y1" fmla="*/ 0 h 802"/>
              <a:gd name="p0x2" fmla="*/ 4931 w 4985"/>
              <a:gd name="p0y2" fmla="*/ 0 h 802"/>
              <a:gd name="p0x3" fmla="*/ 4985 w 4985"/>
              <a:gd name="p0y3" fmla="*/ 53 h 802"/>
              <a:gd name="p0x4" fmla="*/ 4985 w 4985"/>
              <a:gd name="p0y4" fmla="*/ 120 h 802"/>
              <a:gd name="p0x5" fmla="*/ 4985 w 4985"/>
              <a:gd name="p0y5" fmla="*/ 682 h 802"/>
              <a:gd name="p0x6" fmla="*/ 4985 w 4985"/>
              <a:gd name="p0y6" fmla="*/ 748 h 802"/>
              <a:gd name="p0x7" fmla="*/ 4931 w 4985"/>
              <a:gd name="p0y7" fmla="*/ 802 h 802"/>
              <a:gd name="p0x8" fmla="*/ 4865 w 4985"/>
              <a:gd name="p0y8" fmla="*/ 802 h 802"/>
              <a:gd name="p0x9" fmla="*/ 120 w 4985"/>
              <a:gd name="p0y9" fmla="*/ 802 h 802"/>
              <a:gd name="p0x10" fmla="*/ 53 w 4985"/>
              <a:gd name="p0y10" fmla="*/ 802 h 802"/>
              <a:gd name="p0x11" fmla="*/ 0 w 4985"/>
              <a:gd name="p0y11" fmla="*/ 748 h 802"/>
              <a:gd name="p0x12" fmla="*/ 0 w 4985"/>
              <a:gd name="p0y12" fmla="*/ 682 h 802"/>
              <a:gd name="p0x13" fmla="*/ 0 w 4985"/>
              <a:gd name="p0y13" fmla="*/ 120 h 802"/>
              <a:gd name="p0x14" fmla="*/ 0 w 4985"/>
              <a:gd name="p0y14" fmla="*/ 53 h 802"/>
              <a:gd name="p0x15" fmla="*/ 53 w 4985"/>
              <a:gd name="p0y15" fmla="*/ 0 h 802"/>
              <a:gd name="p0x16" fmla="*/ 120 w 4985"/>
              <a:gd name="p0y16" fmla="*/ 0 h 8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21"/>
            </p:custDataLst>
          </p:nvPr>
        </p:nvSpPr>
        <p:spPr>
          <a:xfrm>
            <a:off x="4631690" y="5991225"/>
            <a:ext cx="2927350" cy="57150"/>
          </a:xfrm>
          <a:custGeom>
            <a:avLst/>
            <a:gdLst>
              <a:gd name="sw" fmla="*/ 1 w 4610"/>
              <a:gd name="sh" fmla="*/ 1 h 90"/>
              <a:gd name="mins" fmla="min sw sh"/>
              <a:gd name="dsw" fmla="+- 0 sw mins"/>
              <a:gd name="dsh" fmla="+- 0 sh mins"/>
              <a:gd name="p0x0" fmla="*/ 45 w 4610"/>
              <a:gd name="p0y0" fmla="*/ 0 h 90"/>
              <a:gd name="p0x1" fmla="*/ 4565 w 4610"/>
              <a:gd name="p0y1" fmla="*/ 0 h 90"/>
              <a:gd name="p0x2" fmla="*/ 4589 w 4610"/>
              <a:gd name="p0y2" fmla="*/ 0 h 90"/>
              <a:gd name="p0x3" fmla="*/ 4610 w 4610"/>
              <a:gd name="p0y3" fmla="*/ 20 h 90"/>
              <a:gd name="p0x4" fmla="*/ 4610 w 4610"/>
              <a:gd name="p0y4" fmla="*/ 45 h 90"/>
              <a:gd name="p0x5" fmla="*/ 4610 w 4610"/>
              <a:gd name="p0y5" fmla="*/ 69 h 90"/>
              <a:gd name="p0x6" fmla="*/ 4589 w 4610"/>
              <a:gd name="p0y6" fmla="*/ 90 h 90"/>
              <a:gd name="p0x7" fmla="*/ 4565 w 4610"/>
              <a:gd name="p0y7" fmla="*/ 90 h 90"/>
              <a:gd name="p0x8" fmla="*/ 45 w 4610"/>
              <a:gd name="p0y8" fmla="*/ 90 h 90"/>
              <a:gd name="p0x9" fmla="*/ 20 w 4610"/>
              <a:gd name="p0y9" fmla="*/ 90 h 90"/>
              <a:gd name="p0x10" fmla="*/ 0 w 4610"/>
              <a:gd name="p0y10" fmla="*/ 69 h 90"/>
              <a:gd name="p0x11" fmla="*/ 0 w 4610"/>
              <a:gd name="p0y11" fmla="*/ 45 h 90"/>
              <a:gd name="p0x12" fmla="*/ 0 w 4610"/>
              <a:gd name="p0y12" fmla="*/ 20 h 90"/>
              <a:gd name="p0x13" fmla="*/ 20 w 4610"/>
              <a:gd name="p0y13" fmla="*/ 0 h 90"/>
              <a:gd name="p0x14" fmla="*/ 45 w 4610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22"/>
            </p:custDataLst>
          </p:nvPr>
        </p:nvSpPr>
        <p:spPr>
          <a:xfrm>
            <a:off x="4631690" y="5991225"/>
            <a:ext cx="2781300" cy="57150"/>
          </a:xfrm>
          <a:custGeom>
            <a:avLst/>
            <a:gdLst>
              <a:gd name="sw" fmla="*/ 1 w 4379"/>
              <a:gd name="sh" fmla="*/ 1 h 90"/>
              <a:gd name="mins" fmla="min sw sh"/>
              <a:gd name="dsw" fmla="+- 0 sw mins"/>
              <a:gd name="dsh" fmla="+- 0 sh mins"/>
              <a:gd name="p0x0" fmla="*/ 45 w 4379"/>
              <a:gd name="p0y0" fmla="*/ 0 h 90"/>
              <a:gd name="p0x1" fmla="*/ 4334 w 4379"/>
              <a:gd name="p0y1" fmla="*/ 0 h 90"/>
              <a:gd name="p0x2" fmla="*/ 4359 w 4379"/>
              <a:gd name="p0y2" fmla="*/ 0 h 90"/>
              <a:gd name="p0x3" fmla="*/ 4379 w 4379"/>
              <a:gd name="p0y3" fmla="*/ 20 h 90"/>
              <a:gd name="p0x4" fmla="*/ 4379 w 4379"/>
              <a:gd name="p0y4" fmla="*/ 45 h 90"/>
              <a:gd name="p0x5" fmla="*/ 4379 w 4379"/>
              <a:gd name="p0y5" fmla="*/ 69 h 90"/>
              <a:gd name="p0x6" fmla="*/ 4359 w 4379"/>
              <a:gd name="p0y6" fmla="*/ 90 h 90"/>
              <a:gd name="p0x7" fmla="*/ 4334 w 4379"/>
              <a:gd name="p0y7" fmla="*/ 90 h 90"/>
              <a:gd name="p0x8" fmla="*/ 45 w 4379"/>
              <a:gd name="p0y8" fmla="*/ 90 h 90"/>
              <a:gd name="p0x9" fmla="*/ 20 w 4379"/>
              <a:gd name="p0y9" fmla="*/ 90 h 90"/>
              <a:gd name="p0x10" fmla="*/ 0 w 4379"/>
              <a:gd name="p0y10" fmla="*/ 69 h 90"/>
              <a:gd name="p0x11" fmla="*/ 0 w 4379"/>
              <a:gd name="p0y11" fmla="*/ 45 h 90"/>
              <a:gd name="p0x12" fmla="*/ 0 w 4379"/>
              <a:gd name="p0y12" fmla="*/ 20 h 90"/>
              <a:gd name="p0x13" fmla="*/ 20 w 4379"/>
              <a:gd name="p0y13" fmla="*/ 0 h 90"/>
              <a:gd name="p0x14" fmla="*/ 45 w 4379"/>
              <a:gd name="p0y14" fmla="*/ 0 h 90"/>
            </a:gdLst>
            <a:ahLst/>
            <a:cxnLst/>
            <a:pathLst>
              <a:path w="4380" h="90">
                <a:moveTo>
                  <a:pt x="4335" y="0"/>
                </a:moveTo>
                <a:cubicBezTo>
                  <a:pt x="4360" y="-1"/>
                  <a:pt x="4381" y="23"/>
                  <a:pt x="4380" y="45"/>
                </a:cubicBezTo>
                <a:cubicBezTo>
                  <a:pt x="4381" y="70"/>
                  <a:pt x="4357" y="91"/>
                  <a:pt x="4335" y="90"/>
                </a:cubicBezTo>
                <a:lnTo>
                  <a:pt x="45" y="90"/>
                </a:lnTo>
                <a:cubicBezTo>
                  <a:pt x="20" y="91"/>
                  <a:pt x="-1" y="67"/>
                  <a:pt x="0" y="45"/>
                </a:cubicBezTo>
                <a:cubicBezTo>
                  <a:pt x="-1" y="20"/>
                  <a:pt x="23" y="-1"/>
                  <a:pt x="45" y="0"/>
                </a:cubicBezTo>
                <a:lnTo>
                  <a:pt x="4335" y="0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8101965" y="1162050"/>
            <a:ext cx="3632200" cy="5238750"/>
            <a:chOff x="12759" y="1830"/>
            <a:chExt cx="5720" cy="8250"/>
          </a:xfrm>
          <a:effectLst>
            <a:outerShdw blurRad="85725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38" name="任意多边形 37"/>
            <p:cNvSpPr/>
            <p:nvPr>
              <p:custDataLst>
                <p:tags r:id="rId23"/>
              </p:custDataLst>
            </p:nvPr>
          </p:nvSpPr>
          <p:spPr>
            <a:xfrm>
              <a:off x="12759" y="1830"/>
              <a:ext cx="5721" cy="8250"/>
            </a:xfrm>
            <a:custGeom>
              <a:avLst/>
              <a:gdLst>
                <a:gd name="sw" fmla="*/ 1 w 5720"/>
                <a:gd name="sh" fmla="*/ 1 h 8250"/>
                <a:gd name="mins" fmla="min sw sh"/>
                <a:gd name="dsw" fmla="+- 0 sw mins"/>
                <a:gd name="dsh" fmla="+- 0 sh mins"/>
                <a:gd name="p0x0" fmla="*/ 240 w 5720"/>
                <a:gd name="p0y0" fmla="*/ 0 h 8250"/>
                <a:gd name="p0x1" fmla="*/ 5480 w 5720"/>
                <a:gd name="p0y1" fmla="*/ 0 h 8250"/>
                <a:gd name="p0x2" fmla="*/ 5612 w 5720"/>
                <a:gd name="p0y2" fmla="*/ 0 h 8250"/>
                <a:gd name="p0x3" fmla="*/ 5720 w 5720"/>
                <a:gd name="p0y3" fmla="*/ 107 h 8250"/>
                <a:gd name="p0x4" fmla="*/ 5720 w 5720"/>
                <a:gd name="p0y4" fmla="*/ 240 h 8250"/>
                <a:gd name="p0x5" fmla="*/ 5720 w 5720"/>
                <a:gd name="p0y5" fmla="*/ 8010 h 8250"/>
                <a:gd name="p0x6" fmla="*/ 5720 w 5720"/>
                <a:gd name="p0y6" fmla="*/ 8142 h 8250"/>
                <a:gd name="p0x7" fmla="*/ 5612 w 5720"/>
                <a:gd name="p0y7" fmla="*/ 8250 h 8250"/>
                <a:gd name="p0x8" fmla="*/ 5480 w 5720"/>
                <a:gd name="p0y8" fmla="*/ 8250 h 8250"/>
                <a:gd name="p0x9" fmla="*/ 240 w 5720"/>
                <a:gd name="p0y9" fmla="*/ 8250 h 8250"/>
                <a:gd name="p0x10" fmla="*/ 107 w 5720"/>
                <a:gd name="p0y10" fmla="*/ 8250 h 8250"/>
                <a:gd name="p0x11" fmla="*/ 0 w 5720"/>
                <a:gd name="p0y11" fmla="*/ 8142 h 8250"/>
                <a:gd name="p0x12" fmla="*/ 0 w 5720"/>
                <a:gd name="p0y12" fmla="*/ 8010 h 8250"/>
                <a:gd name="p0x13" fmla="*/ 0 w 5720"/>
                <a:gd name="p0y13" fmla="*/ 240 h 8250"/>
                <a:gd name="p0x14" fmla="*/ 0 w 5720"/>
                <a:gd name="p0y14" fmla="*/ 107 h 8250"/>
                <a:gd name="p0x15" fmla="*/ 107 w 5720"/>
                <a:gd name="p0y15" fmla="*/ 0 h 8250"/>
                <a:gd name="p0x16" fmla="*/ 240 w 5720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24"/>
              </p:custDataLst>
            </p:nvPr>
          </p:nvSpPr>
          <p:spPr>
            <a:xfrm>
              <a:off x="12759" y="1830"/>
              <a:ext cx="5721" cy="240"/>
            </a:xfrm>
            <a:custGeom>
              <a:avLst/>
              <a:gdLst>
                <a:gd name="sw" fmla="*/ 1 w 5720"/>
                <a:gd name="sh" fmla="*/ 1 h 240"/>
                <a:gd name="mins" fmla="min sw sh"/>
                <a:gd name="dsw" fmla="+- 0 sw mins"/>
                <a:gd name="dsh" fmla="+- 0 sh mins"/>
                <a:gd name="p0x0" fmla="*/ 240 w 5720"/>
                <a:gd name="p0y0" fmla="*/ 0 h 240"/>
                <a:gd name="p0x1" fmla="*/ 5480 w 5720"/>
                <a:gd name="p0y1" fmla="*/ 0 h 240"/>
                <a:gd name="p0x2" fmla="*/ 5612 w 5720"/>
                <a:gd name="p0y2" fmla="*/ 0 h 240"/>
                <a:gd name="p0x3" fmla="*/ 5720 w 5720"/>
                <a:gd name="p0y3" fmla="*/ 107 h 240"/>
                <a:gd name="p0x4" fmla="*/ 5720 w 5720"/>
                <a:gd name="p0y4" fmla="*/ 240 h 240"/>
                <a:gd name="p0x5" fmla="*/ 5720 w 5720"/>
                <a:gd name="p0y5" fmla="*/ 157 h 240"/>
                <a:gd name="p0x6" fmla="*/ 5612 w 5720"/>
                <a:gd name="p0y6" fmla="*/ 90 h 240"/>
                <a:gd name="p0x7" fmla="*/ 5480 w 5720"/>
                <a:gd name="p0y7" fmla="*/ 90 h 240"/>
                <a:gd name="p0x8" fmla="*/ 240 w 5720"/>
                <a:gd name="p0y8" fmla="*/ 90 h 240"/>
                <a:gd name="p0x9" fmla="*/ 107 w 5720"/>
                <a:gd name="p0y9" fmla="*/ 90 h 240"/>
                <a:gd name="p0x10" fmla="*/ 0 w 5720"/>
                <a:gd name="p0y10" fmla="*/ 157 h 240"/>
                <a:gd name="p0x11" fmla="*/ 0 w 5720"/>
                <a:gd name="p0y11" fmla="*/ 240 h 240"/>
                <a:gd name="p0x12" fmla="*/ 0 w 5720"/>
                <a:gd name="p0y12" fmla="*/ 107 h 240"/>
                <a:gd name="p0x13" fmla="*/ 107 w 5720"/>
                <a:gd name="p0y13" fmla="*/ 0 h 240"/>
                <a:gd name="p0x14" fmla="*/ 240 w 572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1" name="任意多边形 40"/>
          <p:cNvSpPr/>
          <p:nvPr>
            <p:custDataLst>
              <p:tags r:id="rId25"/>
            </p:custDataLst>
          </p:nvPr>
        </p:nvSpPr>
        <p:spPr>
          <a:xfrm>
            <a:off x="8330565" y="14478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172A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8331809" y="2231708"/>
            <a:ext cx="3175026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数值</a:t>
            </a:r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模拟</a:t>
            </a:r>
            <a:endParaRPr lang="zh-CN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8330565" y="2557780"/>
            <a:ext cx="3175000" cy="313690"/>
            <a:chOff x="13119" y="4028"/>
            <a:chExt cx="5000" cy="494"/>
          </a:xfrm>
        </p:grpSpPr>
        <p:sp>
          <p:nvSpPr>
            <p:cNvPr id="44" name="任意多边形 43"/>
            <p:cNvSpPr/>
            <p:nvPr>
              <p:custDataLst>
                <p:tags r:id="rId27"/>
              </p:custDataLst>
            </p:nvPr>
          </p:nvSpPr>
          <p:spPr>
            <a:xfrm>
              <a:off x="13119" y="4028"/>
              <a:ext cx="5001" cy="495"/>
            </a:xfrm>
            <a:custGeom>
              <a:avLst/>
              <a:gdLst>
                <a:gd name="sw" fmla="*/ 1 w 5000"/>
                <a:gd name="sh" fmla="*/ 1 h 494"/>
                <a:gd name="mins" fmla="min sw sh"/>
                <a:gd name="dsw" fmla="+- 0 sw mins"/>
                <a:gd name="dsh" fmla="+- 0 sh mins"/>
                <a:gd name="p0x0" fmla="*/ 0 w 5000"/>
                <a:gd name="p0y0" fmla="*/ 0 h 494"/>
                <a:gd name="p0x1" fmla="*/ 5000 w 5000"/>
                <a:gd name="p0y1" fmla="*/ 0 h 494"/>
                <a:gd name="p0x2" fmla="*/ 5000 w 5000"/>
                <a:gd name="p0y2" fmla="*/ 494 h 494"/>
                <a:gd name="p0x3" fmla="*/ 0 w 5000"/>
                <a:gd name="p0y3" fmla="*/ 494 h 494"/>
                <a:gd name="p0x4" fmla="*/ 0 w 5000"/>
                <a:gd name="p0y4" fmla="*/ 0 h 494"/>
              </a:gdLst>
              <a:ahLst/>
              <a:cxnLst/>
              <a:pathLst>
                <a:path w="5001" h="495">
                  <a:moveTo>
                    <a:pt x="5001" y="0"/>
                  </a:moveTo>
                  <a:lnTo>
                    <a:pt x="5001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5001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28"/>
              </p:custDataLst>
            </p:nvPr>
          </p:nvSpPr>
          <p:spPr>
            <a:xfrm>
              <a:off x="13119" y="4508"/>
              <a:ext cx="5001" cy="15"/>
            </a:xfrm>
            <a:custGeom>
              <a:avLst/>
              <a:gdLst>
                <a:gd name="sw" fmla="*/ 1 w 5000"/>
                <a:gd name="sh" fmla="*/ 1 h 15"/>
                <a:gd name="mins" fmla="min sw sh"/>
                <a:gd name="dsw" fmla="+- 0 sw mins"/>
                <a:gd name="dsh" fmla="+- 0 sh mins"/>
                <a:gd name="p0x0" fmla="*/ 5000 w 5000"/>
                <a:gd name="p0y0" fmla="*/ 15 h 15"/>
                <a:gd name="p0x1" fmla="*/ 0 w 5000"/>
                <a:gd name="p0y1" fmla="*/ 15 h 15"/>
                <a:gd name="p0x2" fmla="*/ 0 w 5000"/>
                <a:gd name="p0y2" fmla="*/ 0 h 15"/>
                <a:gd name="p0x3" fmla="*/ 5000 w 5000"/>
                <a:gd name="p0y3" fmla="*/ 0 h 15"/>
                <a:gd name="p0x4" fmla="*/ 5000 w 5000"/>
                <a:gd name="p0y4" fmla="*/ 15 h 15"/>
              </a:gdLst>
              <a:ahLst/>
              <a:cxnLst/>
              <a:pathLst>
                <a:path w="5001" h="15">
                  <a:moveTo>
                    <a:pt x="5001" y="0"/>
                  </a:moveTo>
                  <a:lnTo>
                    <a:pt x="5001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001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>
            <p:custDataLst>
              <p:tags r:id="rId29"/>
            </p:custDataLst>
          </p:nvPr>
        </p:nvSpPr>
        <p:spPr>
          <a:xfrm>
            <a:off x="8331200" y="2969895"/>
            <a:ext cx="3175000" cy="1766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数值模拟与实验一致，</a:t>
            </a:r>
            <a:r>
              <a:rPr lang="en-US" altLang="zh-CN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Dingle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因子修正后低场振幅衰减符合</a:t>
            </a:r>
            <a:r>
              <a:rPr lang="zh-CN" altLang="en-US"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观测</a:t>
            </a:r>
            <a:endParaRPr lang="zh-CN" altLang="en-US"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30"/>
            </p:custDataLst>
          </p:nvPr>
        </p:nvSpPr>
        <p:spPr>
          <a:xfrm>
            <a:off x="8335645" y="5657850"/>
            <a:ext cx="3165475" cy="509270"/>
          </a:xfrm>
          <a:custGeom>
            <a:avLst/>
            <a:gdLst>
              <a:gd name="sw" fmla="*/ 1 w 4985"/>
              <a:gd name="sh" fmla="*/ 1 h 802"/>
              <a:gd name="mins" fmla="min sw sh"/>
              <a:gd name="dsw" fmla="+- 0 sw mins"/>
              <a:gd name="dsh" fmla="+- 0 sh mins"/>
              <a:gd name="p0x0" fmla="*/ 120 w 4985"/>
              <a:gd name="p0y0" fmla="*/ 0 h 802"/>
              <a:gd name="p0x1" fmla="*/ 4865 w 4985"/>
              <a:gd name="p0y1" fmla="*/ 0 h 802"/>
              <a:gd name="p0x2" fmla="*/ 4931 w 4985"/>
              <a:gd name="p0y2" fmla="*/ 0 h 802"/>
              <a:gd name="p0x3" fmla="*/ 4985 w 4985"/>
              <a:gd name="p0y3" fmla="*/ 53 h 802"/>
              <a:gd name="p0x4" fmla="*/ 4985 w 4985"/>
              <a:gd name="p0y4" fmla="*/ 120 h 802"/>
              <a:gd name="p0x5" fmla="*/ 4985 w 4985"/>
              <a:gd name="p0y5" fmla="*/ 682 h 802"/>
              <a:gd name="p0x6" fmla="*/ 4985 w 4985"/>
              <a:gd name="p0y6" fmla="*/ 748 h 802"/>
              <a:gd name="p0x7" fmla="*/ 4931 w 4985"/>
              <a:gd name="p0y7" fmla="*/ 802 h 802"/>
              <a:gd name="p0x8" fmla="*/ 4865 w 4985"/>
              <a:gd name="p0y8" fmla="*/ 802 h 802"/>
              <a:gd name="p0x9" fmla="*/ 120 w 4985"/>
              <a:gd name="p0y9" fmla="*/ 802 h 802"/>
              <a:gd name="p0x10" fmla="*/ 53 w 4985"/>
              <a:gd name="p0y10" fmla="*/ 802 h 802"/>
              <a:gd name="p0x11" fmla="*/ 0 w 4985"/>
              <a:gd name="p0y11" fmla="*/ 748 h 802"/>
              <a:gd name="p0x12" fmla="*/ 0 w 4985"/>
              <a:gd name="p0y12" fmla="*/ 682 h 802"/>
              <a:gd name="p0x13" fmla="*/ 0 w 4985"/>
              <a:gd name="p0y13" fmla="*/ 120 h 802"/>
              <a:gd name="p0x14" fmla="*/ 0 w 4985"/>
              <a:gd name="p0y14" fmla="*/ 53 h 802"/>
              <a:gd name="p0x15" fmla="*/ 53 w 4985"/>
              <a:gd name="p0y15" fmla="*/ 0 h 802"/>
              <a:gd name="p0x16" fmla="*/ 120 w 4985"/>
              <a:gd name="p0y16" fmla="*/ 0 h 8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31"/>
            </p:custDataLst>
          </p:nvPr>
        </p:nvSpPr>
        <p:spPr>
          <a:xfrm>
            <a:off x="8454390" y="5991225"/>
            <a:ext cx="2927985" cy="57150"/>
          </a:xfrm>
          <a:custGeom>
            <a:avLst/>
            <a:gdLst>
              <a:gd name="sw" fmla="*/ 1 w 4610"/>
              <a:gd name="sh" fmla="*/ 1 h 90"/>
              <a:gd name="mins" fmla="min sw sh"/>
              <a:gd name="dsw" fmla="+- 0 sw mins"/>
              <a:gd name="dsh" fmla="+- 0 sh mins"/>
              <a:gd name="p0x0" fmla="*/ 45 w 4610"/>
              <a:gd name="p0y0" fmla="*/ 0 h 90"/>
              <a:gd name="p0x1" fmla="*/ 4565 w 4610"/>
              <a:gd name="p0y1" fmla="*/ 0 h 90"/>
              <a:gd name="p0x2" fmla="*/ 4589 w 4610"/>
              <a:gd name="p0y2" fmla="*/ 0 h 90"/>
              <a:gd name="p0x3" fmla="*/ 4610 w 4610"/>
              <a:gd name="p0y3" fmla="*/ 20 h 90"/>
              <a:gd name="p0x4" fmla="*/ 4610 w 4610"/>
              <a:gd name="p0y4" fmla="*/ 45 h 90"/>
              <a:gd name="p0x5" fmla="*/ 4610 w 4610"/>
              <a:gd name="p0y5" fmla="*/ 69 h 90"/>
              <a:gd name="p0x6" fmla="*/ 4589 w 4610"/>
              <a:gd name="p0y6" fmla="*/ 90 h 90"/>
              <a:gd name="p0x7" fmla="*/ 4565 w 4610"/>
              <a:gd name="p0y7" fmla="*/ 90 h 90"/>
              <a:gd name="p0x8" fmla="*/ 45 w 4610"/>
              <a:gd name="p0y8" fmla="*/ 90 h 90"/>
              <a:gd name="p0x9" fmla="*/ 20 w 4610"/>
              <a:gd name="p0y9" fmla="*/ 90 h 90"/>
              <a:gd name="p0x10" fmla="*/ 0 w 4610"/>
              <a:gd name="p0y10" fmla="*/ 69 h 90"/>
              <a:gd name="p0x11" fmla="*/ 0 w 4610"/>
              <a:gd name="p0y11" fmla="*/ 45 h 90"/>
              <a:gd name="p0x12" fmla="*/ 0 w 4610"/>
              <a:gd name="p0y12" fmla="*/ 20 h 90"/>
              <a:gd name="p0x13" fmla="*/ 20 w 4610"/>
              <a:gd name="p0y13" fmla="*/ 0 h 90"/>
              <a:gd name="p0x14" fmla="*/ 45 w 4610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32"/>
            </p:custDataLst>
          </p:nvPr>
        </p:nvSpPr>
        <p:spPr>
          <a:xfrm>
            <a:off x="8454396" y="5991225"/>
            <a:ext cx="2634609" cy="57150"/>
          </a:xfrm>
          <a:custGeom>
            <a:avLst/>
            <a:gdLst>
              <a:gd name="sw" fmla="*/ 1 w 4149"/>
              <a:gd name="sh" fmla="*/ 1 h 90"/>
              <a:gd name="mins" fmla="min sw sh"/>
              <a:gd name="dsw" fmla="+- 0 sw mins"/>
              <a:gd name="dsh" fmla="+- 0 sh mins"/>
              <a:gd name="p0x0" fmla="*/ 45 w 4149"/>
              <a:gd name="p0y0" fmla="*/ 0 h 90"/>
              <a:gd name="p0x1" fmla="*/ 4104 w 4149"/>
              <a:gd name="p0y1" fmla="*/ 0 h 90"/>
              <a:gd name="p0x2" fmla="*/ 4128 w 4149"/>
              <a:gd name="p0y2" fmla="*/ 0 h 90"/>
              <a:gd name="p0x3" fmla="*/ 4149 w 4149"/>
              <a:gd name="p0y3" fmla="*/ 20 h 90"/>
              <a:gd name="p0x4" fmla="*/ 4149 w 4149"/>
              <a:gd name="p0y4" fmla="*/ 45 h 90"/>
              <a:gd name="p0x5" fmla="*/ 4149 w 4149"/>
              <a:gd name="p0y5" fmla="*/ 69 h 90"/>
              <a:gd name="p0x6" fmla="*/ 4128 w 4149"/>
              <a:gd name="p0y6" fmla="*/ 90 h 90"/>
              <a:gd name="p0x7" fmla="*/ 4104 w 4149"/>
              <a:gd name="p0y7" fmla="*/ 90 h 90"/>
              <a:gd name="p0x8" fmla="*/ 45 w 4149"/>
              <a:gd name="p0y8" fmla="*/ 90 h 90"/>
              <a:gd name="p0x9" fmla="*/ 20 w 4149"/>
              <a:gd name="p0y9" fmla="*/ 90 h 90"/>
              <a:gd name="p0x10" fmla="*/ 0 w 4149"/>
              <a:gd name="p0y10" fmla="*/ 69 h 90"/>
              <a:gd name="p0x11" fmla="*/ 0 w 4149"/>
              <a:gd name="p0y11" fmla="*/ 45 h 90"/>
              <a:gd name="p0x12" fmla="*/ 0 w 4149"/>
              <a:gd name="p0y12" fmla="*/ 20 h 90"/>
              <a:gd name="p0x13" fmla="*/ 20 w 4149"/>
              <a:gd name="p0y13" fmla="*/ 0 h 90"/>
              <a:gd name="p0x14" fmla="*/ 45 w 4149"/>
              <a:gd name="p0y14" fmla="*/ 0 h 90"/>
            </a:gdLst>
            <a:ahLst/>
            <a:cxnLst/>
            <a:pathLst>
              <a:path w="4149" h="90">
                <a:moveTo>
                  <a:pt x="45" y="0"/>
                </a:moveTo>
                <a:lnTo>
                  <a:pt x="4104" y="0"/>
                </a:lnTo>
                <a:cubicBezTo>
                  <a:pt x="4129" y="-1"/>
                  <a:pt x="4150" y="23"/>
                  <a:pt x="4149" y="45"/>
                </a:cubicBezTo>
                <a:cubicBezTo>
                  <a:pt x="4150" y="70"/>
                  <a:pt x="4126" y="91"/>
                  <a:pt x="4104" y="90"/>
                </a:cubicBezTo>
                <a:lnTo>
                  <a:pt x="45" y="90"/>
                </a:lnTo>
                <a:cubicBezTo>
                  <a:pt x="20" y="91"/>
                  <a:pt x="-1" y="67"/>
                  <a:pt x="0" y="45"/>
                </a:cubicBezTo>
                <a:cubicBezTo>
                  <a:pt x="-1" y="20"/>
                  <a:pt x="23" y="-1"/>
                  <a:pt x="4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982325" y="0"/>
            <a:ext cx="1172845" cy="1106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648124" y="2757488"/>
            <a:ext cx="358147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5400" b="1" spc="30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sz="5400" b="1" spc="30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495849" y="3967163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汇报人：齐虹淦</a:t>
            </a:r>
            <a:endParaRPr sz="1350">
              <a:solidFill>
                <a:srgbClr val="F8FAFC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592495d2cacca92fdafc7e84ee70497a1b222b"/>
  <p:tag name="KSO_WM_NEWLAYOUT_GROUP_ID" val="layout_31"/>
  <p:tag name="KSO_WM_NEWLAYOUT_ID" val="slide_5de812628256de36"/>
</p:tagLst>
</file>

<file path=ppt/tags/tag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0c609e7383350a448b6eca5c51a6d0d7edcd52"/>
  <p:tag name="KSO_WM_NEWLAYOUT_GROUP_ID" val="layout_10012"/>
  <p:tag name="KSO_WM_NEWLAYOUT_ID" val="slide_7fa0ab1e63954210"/>
</p:tagLst>
</file>

<file path=ppt/tags/tag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9a7b840ddf4d30f33fd4a488811bc95ad0e34b7"/>
  <p:tag name="KSO_WM_NEWLAYOUT_GROUP_ID" val="layout_10012"/>
  <p:tag name="KSO_WM_NEWLAYOUT_ID" val="slide_1b601487e8903dfa"/>
</p:tagLst>
</file>

<file path=ppt/tags/tag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e53d942751cccb1fccce8085f4a2c60284af52"/>
  <p:tag name="KSO_WM_NEWLAYOUT_GROUP_ID" val="layout_10003"/>
  <p:tag name="KSO_WM_NEWLAYOUT_ID" val="slide_a0d311482a7c9980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e0fc28b9115d30298870cc6dd7d13fa6b087b"/>
  <p:tag name="KSO_WM_NEWLAYOUT_GROUP_ID" val="layout_10003"/>
  <p:tag name="KSO_WM_NEWLAYOUT_ID" val="slide_1b8e207f8b04e0fb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55ea08f9a066d78c4cdc9c8e1055bdd0b6de78"/>
  <p:tag name="KSO_WM_NEWLAYOUT_GROUP_ID" val="layout_10009"/>
  <p:tag name="KSO_WM_NEWLAYOUT_ID" val="slide_271e292e8ce0feb0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55ea08f9a066d78c4cdc9c8e1055bdd0b6de78"/>
  <p:tag name="KSO_WM_NEWLAYOUT_GROUP_ID" val="layout_10009"/>
  <p:tag name="KSO_WM_NEWLAYOUT_ID" val="slide_271e292e8ce0feb0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18a107b67c3a9128ee5e5715b42c2c81848427"/>
  <p:tag name="KSO_WM_NEWLAYOUT_GROUP_ID" val="layout_10003"/>
  <p:tag name="KSO_WM_NEWLAYOUT_ID" val="slide_81703d702ccd0284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1b601487e8903dfa"/>
</p:tagLst>
</file>

<file path=ppt/tags/tag2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TABLE_ENDDRAG_ORIGIN_RECT" val="226*104"/>
  <p:tag name="TABLE_ENDDRAG_RECT" val="660*357*226*104"/>
</p:tagLst>
</file>

<file path=ppt/tags/tag27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d"/>
  <p:tag name="KSO_WM_CARDGROUP_LAYOUT_DATA" val="{&quot;cardRct&quot;:[231,1630,5904.66666666667,8015],&quot;lytRct&quot;:[231,1630,18675,8015],&quot;rct&quot;:[231,1630,18675,8015],&quot;spRct&quot;:[0,0,5904,4814]}"/>
  <p:tag name="KSO_WM_CARDGROUP_ID" val="9809c8ae16c142b4b10bee3f48ada6a7"/>
  <p:tag name="KSO_WM_CARDGROUP_FEATURE" val="2*2*16*1*1"/>
  <p:tag name="KSO_WM_CARDGROUP_STYLE_INFO" val="C1_sc_p2*plain*1"/>
  <p:tag name="KSO_WM_CARDGROUP_REVERSE_POSITION" val="0"/>
  <p:tag name="KSO_WM_SLIDE_FIGMA_DIAGRAM" val="1"/>
</p:tagLst>
</file>

<file path=ppt/tags/tag277.xml><?xml version="1.0" encoding="utf-8"?>
<p:tagLst xmlns:p="http://schemas.openxmlformats.org/presentationml/2006/main">
  <p:tag name="KSO_WM_BEAUTIFY_FLAG" val="#wm#"/>
  <p:tag name="KSO_WM_CARDGROUP_FEATURE" val="2*2*16*1*1"/>
  <p:tag name="KSO_WM_CARDGROUP_ID" val="9809c8ae16c142b4b10bee3f48ada6a7"/>
  <p:tag name="KSO_WM_CARDGROUP_REVERSE_POSITION" val="0"/>
  <p:tag name="KSO_WM_CARDGROUP_STYLE_INFO" val="C1_sc_p2*plain*1"/>
  <p:tag name="KSO_WM_FIGMA_FLAG" val="#fgm#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231,1630,5904.66666666667,8015],&quot;lytRct&quot;:[231,1630,18675,8015],&quot;rct&quot;:[231,1630,18675,8015],&quot;spRct&quot;:[0,5215,5904,5854]}"/>
</p:tagLst>
</file>

<file path=ppt/tags/tag278.xml><?xml version="1.0" encoding="utf-8"?>
<p:tagLst xmlns:p="http://schemas.openxmlformats.org/presentationml/2006/main">
  <p:tag name="KSO_WM_BEAUTIFY_FLAG" val="#wm#"/>
  <p:tag name="KSO_WM_CARDGROUP_FEATURE" val="2*2*16*1*1"/>
  <p:tag name="KSO_WM_CARDGROUP_ID" val="9809c8ae16c142b4b10bee3f48ada6a7"/>
  <p:tag name="KSO_WM_CARDGROUP_REVERSE_POSITION" val="0"/>
  <p:tag name="KSO_WM_CARDGROUP_STYLE_INFO" val="C1_sc_p2*plain*1"/>
  <p:tag name="KSO_WM_FIGMA_FLAG" val="#fgm#"/>
  <p:tag name="KSO_WM_SLIDE_FIGMA_DIAGRAM" val="1"/>
  <p:tag name="KSO_WM_UNIT_INDEX" val="1_1_1"/>
  <p:tag name="KSO_WM_UNIT_PRESET_TEXT" val="请在此输入您的文本。"/>
  <p:tag name="KSO_WM_UNIT_TYPE" val="l_h_f"/>
  <p:tag name="KSO_WM_CARDGROUP_LAYOUT_DATA" val="{&quot;cardRct&quot;:[231,1630,5904.66666666667,8015],&quot;lytRct&quot;:[231,1630,18675,8015],&quot;rct&quot;:[231,1630,18675,8015],&quot;spRct&quot;:[0,6095,5904,8014]}"/>
</p:tagLst>
</file>

<file path=ppt/tags/tag279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d"/>
  <p:tag name="KSO_WM_CARDGROUP_LAYOUT_DATA" val="{&quot;cardRct&quot;:[6615.66666666667,1630,5904.66666666667,8015],&quot;lytRct&quot;:[231,1630,18675,8015],&quot;rct&quot;:[231,1630,18675,8015],&quot;spRct&quot;:[6384,0,12289,4814]}"/>
  <p:tag name="KSO_WM_CARDGROUP_ID" val="9809c8ae16c142b4b10bee3f48ada6a7"/>
  <p:tag name="KSO_WM_CARDGROUP_FEATURE" val="2*2*16*1*1"/>
  <p:tag name="KSO_WM_CARDGROUP_STYLE_INFO" val="C1_sc_p2*plain*1"/>
  <p:tag name="KSO_WM_CARDGROUP_REVERSE_POSITION" val="0"/>
  <p:tag name="KSO_WM_SLIDE_FIGMA_DIAGRAM" val="1"/>
</p:tagLst>
</file>

<file path=ppt/tags/tag280.xml><?xml version="1.0" encoding="utf-8"?>
<p:tagLst xmlns:p="http://schemas.openxmlformats.org/presentationml/2006/main">
  <p:tag name="KSO_WM_BEAUTIFY_FLAG" val="#wm#"/>
  <p:tag name="KSO_WM_CARDGROUP_FEATURE" val="2*2*16*1*1"/>
  <p:tag name="KSO_WM_CARDGROUP_ID" val="9809c8ae16c142b4b10bee3f48ada6a7"/>
  <p:tag name="KSO_WM_CARDGROUP_REVERSE_POSITION" val="0"/>
  <p:tag name="KSO_WM_CARDGROUP_STYLE_INFO" val="C1_sc_p2*plain*1"/>
  <p:tag name="KSO_WM_FIGMA_FLAG" val="#fgm#"/>
  <p:tag name="KSO_WM_SLIDE_FIGMA_DIAGRAM" val="1"/>
  <p:tag name="KSO_WM_UNIT_INDEX" val="1_2_1"/>
  <p:tag name="KSO_WM_UNIT_PRESET_TEXT" val="请在此输入您的标题"/>
  <p:tag name="KSO_WM_UNIT_TYPE" val="l_h_a"/>
  <p:tag name="KSO_WM_CARDGROUP_LAYOUT_DATA" val="{&quot;cardRct&quot;:[6615.66666666667,1630,5904.66666666667,8015],&quot;lytRct&quot;:[231,1630,18675,8015],&quot;rct&quot;:[231,1630,18675,8015],&quot;spRct&quot;:[6384,5215,12289,5854]}"/>
</p:tagLst>
</file>

<file path=ppt/tags/tag281.xml><?xml version="1.0" encoding="utf-8"?>
<p:tagLst xmlns:p="http://schemas.openxmlformats.org/presentationml/2006/main">
  <p:tag name="KSO_WM_BEAUTIFY_FLAG" val="#wm#"/>
  <p:tag name="KSO_WM_CARDGROUP_FEATURE" val="2*2*16*1*1"/>
  <p:tag name="KSO_WM_CARDGROUP_ID" val="9809c8ae16c142b4b10bee3f48ada6a7"/>
  <p:tag name="KSO_WM_CARDGROUP_REVERSE_POSITION" val="0"/>
  <p:tag name="KSO_WM_CARDGROUP_STYLE_INFO" val="C1_sc_p2*plain*1"/>
  <p:tag name="KSO_WM_FIGMA_FLAG" val="#fgm#"/>
  <p:tag name="KSO_WM_SLIDE_FIGMA_DIAGRAM" val="1"/>
  <p:tag name="KSO_WM_UNIT_INDEX" val="1_2_1"/>
  <p:tag name="KSO_WM_UNIT_PRESET_TEXT" val="请在此输入您的文本。"/>
  <p:tag name="KSO_WM_UNIT_TYPE" val="l_h_f"/>
  <p:tag name="KSO_WM_CARDGROUP_LAYOUT_DATA" val="{&quot;cardRct&quot;:[6615.66666666667,1630,5904.66666666667,8015],&quot;lytRct&quot;:[231,1630,18675,8015],&quot;rct&quot;:[231,1630,18675,8015],&quot;spRct&quot;:[6384,6095,12289,8014]}"/>
</p:tagLst>
</file>

<file path=ppt/tags/tag282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d"/>
  <p:tag name="KSO_WM_CARDGROUP_LAYOUT_DATA" val="{&quot;cardRct&quot;:[13000.333333333338,1630,5904.66666666667,8015],&quot;lytRct&quot;:[231,1630,18675,8015],&quot;rct&quot;:[231,1630,18675,8015],&quot;spRct&quot;:[12769,0,18674,4814]}"/>
  <p:tag name="KSO_WM_CARDGROUP_ID" val="9809c8ae16c142b4b10bee3f48ada6a7"/>
  <p:tag name="KSO_WM_CARDGROUP_FEATURE" val="2*2*16*1*1"/>
  <p:tag name="KSO_WM_CARDGROUP_STYLE_INFO" val="C1_sc_p2*plain*1"/>
  <p:tag name="KSO_WM_CARDGROUP_REVERSE_POSITION" val="0"/>
  <p:tag name="KSO_WM_SLIDE_FIGMA_DIAGRAM" val="1"/>
</p:tagLst>
</file>

<file path=ppt/tags/tag283.xml><?xml version="1.0" encoding="utf-8"?>
<p:tagLst xmlns:p="http://schemas.openxmlformats.org/presentationml/2006/main">
  <p:tag name="KSO_WM_BEAUTIFY_FLAG" val="#wm#"/>
  <p:tag name="KSO_WM_CARDGROUP_FEATURE" val="2*2*16*1*1"/>
  <p:tag name="KSO_WM_CARDGROUP_ID" val="9809c8ae16c142b4b10bee3f48ada6a7"/>
  <p:tag name="KSO_WM_CARDGROUP_REVERSE_POSITION" val="0"/>
  <p:tag name="KSO_WM_CARDGROUP_STYLE_INFO" val="C1_sc_p2*plain*1"/>
  <p:tag name="KSO_WM_FIGMA_FLAG" val="#fgm#"/>
  <p:tag name="KSO_WM_SLIDE_FIGMA_DIAGRAM" val="1"/>
  <p:tag name="KSO_WM_UNIT_INDEX" val="1_3_1"/>
  <p:tag name="KSO_WM_UNIT_PRESET_TEXT" val="请在此输入您的标题"/>
  <p:tag name="KSO_WM_UNIT_TYPE" val="l_h_a"/>
  <p:tag name="KSO_WM_CARDGROUP_LAYOUT_DATA" val="{&quot;cardRct&quot;:[13000.333333333338,1630,5904.66666666667,8015],&quot;lytRct&quot;:[231,1630,18675,8015],&quot;rct&quot;:[231,1630,18675,8015],&quot;spRct&quot;:[12769,5215,18674,5854]}"/>
</p:tagLst>
</file>

<file path=ppt/tags/tag284.xml><?xml version="1.0" encoding="utf-8"?>
<p:tagLst xmlns:p="http://schemas.openxmlformats.org/presentationml/2006/main">
  <p:tag name="KSO_WM_BEAUTIFY_FLAG" val="#wm#"/>
  <p:tag name="KSO_WM_CARDGROUP_FEATURE" val="2*2*16*1*1"/>
  <p:tag name="KSO_WM_CARDGROUP_ID" val="9809c8ae16c142b4b10bee3f48ada6a7"/>
  <p:tag name="KSO_WM_CARDGROUP_REVERSE_POSITION" val="0"/>
  <p:tag name="KSO_WM_CARDGROUP_STYLE_INFO" val="C1_sc_p2*plain*1"/>
  <p:tag name="KSO_WM_FIGMA_FLAG" val="#fgm#"/>
  <p:tag name="KSO_WM_SLIDE_FIGMA_DIAGRAM" val="1"/>
  <p:tag name="KSO_WM_UNIT_INDEX" val="1_3_1"/>
  <p:tag name="KSO_WM_UNIT_PRESET_TEXT" val="请在此输入您的文本。"/>
  <p:tag name="KSO_WM_UNIT_TYPE" val="l_h_f"/>
  <p:tag name="KSO_WM_CARDGROUP_LAYOUT_DATA" val="{&quot;cardRct&quot;:[13000.333333333338,1630,5904.66666666667,8015],&quot;lytRct&quot;:[231,1630,18675,8015],&quot;rct&quot;:[231,1630,18675,8015],&quot;spRct&quot;:[12769,6095,18674,8014]}"/>
</p:tagLst>
</file>

<file path=ppt/tags/tag2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271e292e8ce0feb0"/>
</p:tagLst>
</file>

<file path=ppt/tags/tag2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WPS 演示</Application>
  <PresentationFormat>宽屏</PresentationFormat>
  <Paragraphs>199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Office 主题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齐虹淦</cp:lastModifiedBy>
  <cp:revision>14</cp:revision>
  <dcterms:created xsi:type="dcterms:W3CDTF">2026-05-11T14:13:00Z</dcterms:created>
  <dcterms:modified xsi:type="dcterms:W3CDTF">2026-06-28T13:26:29Z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DCD36688C90C45BC85F0E01D63BD2E43_13</vt:lpwstr>
  </property>
</Properties>
</file>